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6AFE-8147-B379-4BEC-22BC2B813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A44A9-5C82-E34C-798E-0132E6859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9E56-6D6D-8BA4-E90D-5041E8EC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7D50B-EF37-2DF4-0F59-0A4EA238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159B-3624-C9C6-7D12-D35E7049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5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AA77-9AB5-29A4-0733-3289D0C0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6D005-D241-A70A-9565-B7028BA86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9A02-F8A2-CAB9-FA88-88903B81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98E6-6444-C7F1-4517-C664DA5C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F2E81-5745-FC6A-31FB-34AFB4B1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64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D825-7EAB-2EF3-F5F1-0D35A3F6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F0FA1-2340-7021-E8DD-42FE9E31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6B58F-A61A-266E-B759-F50CC9E6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410B8-47D9-26C1-9E0C-0660925F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BB50-1F79-B4F7-7329-72D45A79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59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BAE6-3EB8-CB12-1A89-F830E0A9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8E489-2289-5EBB-E66F-90C0035BA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B5F7B-6C22-158F-BCD7-297694847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80CFE-78AF-583B-07F7-F5395EA5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EAE9B-455A-F2EC-2072-CCAA8A72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628AA-8E14-6690-84CA-577DF085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7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67AA-035B-934B-D643-2F661256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79326-075E-ACD9-A5C9-33EB7E8D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DA0B7-297C-7B81-2223-502D734DD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B6894-A1B9-D689-712E-95B11CE66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DB40BD-D927-3FBD-A9A6-B7B1CC19B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794CA-4348-0284-BE86-4B9DBF73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108A0-4F4E-5F05-7E6C-6538F6C7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A1DE0C-C602-B48E-8E99-99B499E8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63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2377-B738-D439-F03C-0E5C5C78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E9A29-D15C-6098-CC05-EE6A7E7E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D5943-344E-96DE-EFFE-9655E966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80A3C-184A-6C5D-DC95-2FBA8346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056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3C8AB-320C-7B56-8D41-63293605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7A021-3624-4EAF-AA3A-6F06272D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D12CC-A486-8B6F-E039-03F5CE73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54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07B4-793E-A3D3-3BA4-6DF87E80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7A81-5D88-1DE4-CA5B-F94C88FF1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10A53-576D-326E-6ADE-1B8F55E49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EE434-06FC-6EB1-8A39-BC6090E9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3B660-5563-ACCE-4A74-239DCB1C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0A049-015A-1A06-7B18-0CA86834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93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E7F0-4C73-B57C-ED8A-B1A8AE4C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7970D-A8C5-5184-556D-FA95A1B0E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7091A-6A70-F1BB-7F51-B898D3511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1EC8E-C2F3-7DBA-A7C8-D2734C07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F4D6D-C513-8EA0-4351-821D3B85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7B736-3599-C45A-5D59-B492EECC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00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4887-8E7B-1D58-0742-91439E83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E5CF7-414D-3F92-5FC4-DC7E77307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6B98-F892-781A-42D5-020254E4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1D219-CC04-C869-2E71-0F9B283F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944CF-4B66-B5AB-AB86-20E7BC6E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2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BC54E-521E-ACAF-4B51-CE36AD20F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90267-8AB0-5AB9-D08C-62A114AB1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37BC2-2979-47D1-CC1D-C0969C3E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A73C9-968D-B8E0-E18A-43250B11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C7096-C983-A81D-187A-4205ECAB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453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B64C-2B27-5B41-B980-B8BAC10D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7CE69-1DD3-4EDD-B643-29E06700E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2DDF9-D5D1-811A-9114-1212CDE75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CACD6-9F5B-4027-8DCB-5FCF5C3031EF}" type="datetimeFigureOut">
              <a:rPr lang="fr-FR" smtClean="0"/>
              <a:t>08/06/2026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CD43B-8FB6-CE09-64A4-D69C67A1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608B7-2479-468C-4225-67B3941C5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EE98A-2630-479D-8822-6ED69CA5FE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87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125675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4000" b="1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APSO Marketing Hub — AWS Fargate Target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3695"/>
            <a:ext cx="10515600" cy="610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900" b="0" i="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The deployment sketch: a portable Next.js container on ECS Fargate in eu-central-1, behind ALB + WAF, with read-only egress. Same app that runs today — redeploy, not rewrite.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6DBB1-384B-60F6-2A5E-282FB2905CEA}"/>
              </a:ext>
            </a:extLst>
          </p:cNvPr>
          <p:cNvSpPr/>
          <p:nvPr/>
        </p:nvSpPr>
        <p:spPr>
          <a:xfrm>
            <a:off x="305" y="3549535"/>
            <a:ext cx="12191695" cy="457200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application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What it is: </a:t>
            </a:r>
            <a:r>
              <a:rPr sz="1650">
                <a:solidFill>
                  <a:srgbClr val="1A1D21"/>
                </a:solidFill>
                <a:latin typeface="Calibri"/>
              </a:rPr>
              <a:t>an internal AI marketing-content assistant. Drafts LinkedIn / newsletter / blog / SEO copy in APSO tone — every output passes a mandatory human-approval gate.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Today (Phase 1): </a:t>
            </a:r>
            <a:r>
              <a:rPr sz="1650">
                <a:solidFill>
                  <a:srgbClr val="1A1D21"/>
                </a:solidFill>
                <a:latin typeface="Calibri"/>
              </a:rPr>
              <a:t>live on Railway EU. Isolated sandbox — no HubSpot, Magento, GA4 or customer data. Only outbound traffic is to Anthropic Claude + Google Gemini.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Stack: </a:t>
            </a:r>
            <a:r>
              <a:rPr sz="1650">
                <a:solidFill>
                  <a:srgbClr val="1A1D21"/>
                </a:solidFill>
                <a:latin typeface="Calibri"/>
              </a:rPr>
              <a:t>Next.js 15 + React 19 + Node.js 20. PostgreSQL for users + audit log. Stateless app container.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Ask of True Soft: </a:t>
            </a:r>
            <a:r>
              <a:rPr sz="1650">
                <a:solidFill>
                  <a:srgbClr val="1A1D21"/>
                </a:solidFill>
                <a:latin typeface="Calibri"/>
              </a:rPr>
              <a:t>redeploy the same container onto AWS ECS Fargate in eu-central-1 with corporate-grade chrome (VPC, WAF, Secrets Manager, SSO).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0">
                <a:solidFill>
                  <a:srgbClr val="1A1D21"/>
                </a:solidFill>
                <a:latin typeface="Calibri"/>
              </a:rPr>
              <a:t>It is a redeploy, not a rewrite — the container image is portable across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THE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AWS Fargate target architecture — eu-central-1 (Frankfurt)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6035040" cy="457200"/>
          </a:xfrm>
          <a:prstGeom prst="roundRect">
            <a:avLst/>
          </a:prstGeom>
          <a:solidFill>
            <a:srgbClr val="274E64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21447"/>
            <a:ext cx="6035040" cy="42832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User browser</a:t>
            </a:r>
          </a:p>
          <a:p>
            <a:pPr algn="ctr"/>
            <a:r>
              <a:rPr sz="1050" dirty="0">
                <a:solidFill>
                  <a:schemeClr val="bg1"/>
                </a:solidFill>
                <a:latin typeface="Calibri"/>
              </a:rPr>
              <a:t>HTTPS / TLS 1.3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38728" y="170078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Amazon Route 53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DNS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38728" y="243230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67004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AWS WAF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OWASP Core Rule Set + rate limiting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538728" y="316382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Application Load Balancer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public HTTPS :443  →  container :3000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38728" y="389534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4133087"/>
            <a:ext cx="6035040" cy="777240"/>
          </a:xfrm>
          <a:prstGeom prst="roundRect">
            <a:avLst/>
          </a:prstGeom>
          <a:solidFill>
            <a:srgbClr val="EEF2F5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6035040" cy="7772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500" b="1" dirty="0">
                <a:solidFill>
                  <a:srgbClr val="274E64"/>
                </a:solidFill>
                <a:latin typeface="Calibri"/>
              </a:rPr>
              <a:t>ECS Fargate Service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2 × Next.js task (0.5 vCPU / 1 GB) across 2 Availability Zones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538728" y="494690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RDS PostgreSQL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users +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Secrets Manager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+ KMS encryption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CloudWatch Logs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egress + app, 24 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207008"/>
            <a:ext cx="4572000" cy="4636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2340" y="1481328"/>
            <a:ext cx="42062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 dirty="0">
                <a:solidFill>
                  <a:srgbClr val="ED1B2F"/>
                </a:solidFill>
                <a:latin typeface="Calibri"/>
              </a:rPr>
              <a:t>OUTBOUND — server-side only, all egress logged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675120" y="43616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173736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1A1D21"/>
                </a:solidFill>
                <a:latin typeface="Calibri"/>
              </a:rPr>
              <a:t>Anthropic Claude API — content generation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api.anthropic.com : 443 (HTTPS)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1A1D21"/>
                </a:solidFill>
                <a:latin typeface="Calibri"/>
              </a:rPr>
              <a:t>Google Gemini API — A/B + image generation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generativelanguage.googleapis.com : 443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C77700"/>
                </a:solidFill>
                <a:latin typeface="Calibri"/>
              </a:rPr>
              <a:t>Phase 2 (read-only, opt-in per security review):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GA4 · Search Console · Magento REST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LinkedIn Marketing · HubSpot (narrow allow-list)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NETWORKING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VPC, subnets, security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 dirty="0">
                <a:solidFill>
                  <a:srgbClr val="1A1D21"/>
                </a:solidFill>
                <a:latin typeface="Calibri"/>
              </a:rPr>
              <a:t>VPC in eu-central-1, spanning 2 Availability Zones for high availability.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 dirty="0">
                <a:solidFill>
                  <a:srgbClr val="1A1D21"/>
                </a:solidFill>
                <a:latin typeface="Calibri"/>
              </a:rPr>
              <a:t>Public subnets: </a:t>
            </a:r>
            <a:r>
              <a:rPr sz="1600" dirty="0">
                <a:solidFill>
                  <a:srgbClr val="1A1D21"/>
                </a:solidFill>
                <a:latin typeface="Calibri"/>
              </a:rPr>
              <a:t>ALB only.   Private subnets: Fargate tasks + RDS (no public IP).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 dirty="0">
                <a:solidFill>
                  <a:srgbClr val="1A1D21"/>
                </a:solidFill>
                <a:latin typeface="Calibri"/>
              </a:rPr>
              <a:t>Security group — ingress: </a:t>
            </a:r>
            <a:r>
              <a:rPr sz="1600" dirty="0">
                <a:solidFill>
                  <a:srgbClr val="1A1D21"/>
                </a:solidFill>
                <a:latin typeface="Calibri"/>
              </a:rPr>
              <a:t>allow 443 to the ALB; ALB → tasks on 3000 only.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 dirty="0">
                <a:solidFill>
                  <a:srgbClr val="1A1D21"/>
                </a:solidFill>
                <a:latin typeface="Calibri"/>
              </a:rPr>
              <a:t>Security group — egress: </a:t>
            </a:r>
            <a:r>
              <a:rPr sz="1600" dirty="0">
                <a:solidFill>
                  <a:srgbClr val="1A1D21"/>
                </a:solidFill>
                <a:latin typeface="Calibri"/>
              </a:rPr>
              <a:t>allow 443 to Claude + Gemini endpoints; 5432 to RDS in-VPC; 53 DNS. Everything else denied.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 dirty="0">
                <a:solidFill>
                  <a:srgbClr val="1A1D21"/>
                </a:solidFill>
                <a:latin typeface="Calibri"/>
              </a:rPr>
              <a:t>TLS: </a:t>
            </a:r>
            <a:r>
              <a:rPr sz="1600" dirty="0">
                <a:solidFill>
                  <a:srgbClr val="1A1D21"/>
                </a:solidFill>
                <a:latin typeface="Calibri"/>
              </a:rPr>
              <a:t>ACM certificate on the ALB; Route 53 record for the hostname. App speaks plain HTTP inside the VPC.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CONTAINER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the task definition needs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Multi-stage Node 20 Alpine, Next.js standalone output → ECR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Container port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3000 (HTTP)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GET /api/health → 200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CPU / Memory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0.5 vCPU / 1 GB (start); target-tracking autoscale on CPU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Desired count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2 tasks (HA); min 1, max small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Secrets (from Secrets Manager)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AUTH_SECRET · AUTH_MASTER_PASSWORD · ANTHROPIC_API_KEY · GEMINI_API_KEY · DATABASE_URL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NODE_ENV=production · PORT=3000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Logs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awslogs driver → CloudWatch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None in the container — fully stateless; all state in RDS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 API request — 9 checks in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1. TLS termination — at the ALB.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2. WAF filtering — OWASP CRS + rate limit + bad inputs.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3. Auth check — valid session? → 401 if not.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4. Role check — viewer / user / admin allowed? → 403 if not.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5. Rate limit — per user, per route → 429 if exceeded.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6. Input validation — Zod schema → 400 if invalid.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7. Business logic — Claude / Gemini / read integrations.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8. Output sanitisation — strip unexpected HTML, validate shape.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9. Audit log entry — user + route + outcome + payload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This middleware is already enforced in the app today — it travels with the container, unchanged, to 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Data, encryption, residency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EU region only (eu-central-1) — data residency in Frankfurt.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Encryption: </a:t>
            </a:r>
            <a:r>
              <a:rPr sz="1600">
                <a:solidFill>
                  <a:srgbClr val="1A1D21"/>
                </a:solidFill>
                <a:latin typeface="Calibri"/>
              </a:rPr>
              <a:t>TLS in transit; KMS at rest for RDS + Secrets Manager.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Secrets server-side only — no API key ever reaches the browser (CSP enforced).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Phase 1 data surface: </a:t>
            </a:r>
            <a:r>
              <a:rPr sz="1600">
                <a:solidFill>
                  <a:srgbClr val="1A1D21"/>
                </a:solidFill>
                <a:latin typeface="Calibri"/>
              </a:rPr>
              <a:t>bcrypt password hashes + 2 API keys. No PII, no CRM, only public content.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All corporate integrations (Phase 2) are read-only by default; write access is opt-in, per integration, per security review.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Additive never destructive: </a:t>
            </a:r>
            <a:r>
              <a:rPr sz="1600">
                <a:solidFill>
                  <a:srgbClr val="1A1D21"/>
                </a:solidFill>
                <a:latin typeface="Calibri"/>
              </a:rPr>
              <a:t>the hub can be torn down at any phase with zero data loss in source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CI /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42575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How updates ship — GitHub Actions → ECR → ECS</a:t>
            </a:r>
            <a:r>
              <a:rPr lang="en-GB" sz="2600" b="1" i="0" dirty="0">
                <a:solidFill>
                  <a:srgbClr val="FFFFFF"/>
                </a:solidFill>
                <a:latin typeface="Calibri"/>
              </a:rPr>
              <a:t> – If possible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057400" cy="914400"/>
          </a:xfrm>
          <a:prstGeom prst="roundRect">
            <a:avLst/>
          </a:prstGeom>
          <a:solidFill>
            <a:srgbClr val="274E64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52987"/>
            <a:ext cx="2057400" cy="397545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 dirty="0" err="1">
                <a:solidFill>
                  <a:srgbClr val="FFFFFF"/>
                </a:solidFill>
                <a:latin typeface="Calibri"/>
              </a:rPr>
              <a:t>gitpush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 / merge to main</a:t>
            </a:r>
          </a:p>
          <a:p>
            <a:pPr algn="ctr"/>
            <a:r>
              <a:rPr sz="1000" dirty="0">
                <a:solidFill>
                  <a:schemeClr val="bg1"/>
                </a:solidFill>
                <a:latin typeface="Calibri"/>
              </a:rPr>
              <a:t>developer 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5234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GitHub Actions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build + test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1266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072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Amazon ECR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push container image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7298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ECS Fargate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update-service → rolling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 dirty="0">
                <a:solidFill>
                  <a:srgbClr val="1A1D21"/>
                </a:solidFill>
                <a:latin typeface="Calibri"/>
              </a:rPr>
              <a:t>Authentication: </a:t>
            </a:r>
            <a:r>
              <a:rPr sz="1600" dirty="0">
                <a:solidFill>
                  <a:srgbClr val="1A1D21"/>
                </a:solidFill>
                <a:latin typeface="Calibri"/>
              </a:rPr>
              <a:t>a GitHub-OIDC IAM role — no long-lived AWS keys stored in GitHub.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 dirty="0">
                <a:solidFill>
                  <a:srgbClr val="1A1D21"/>
                </a:solidFill>
                <a:latin typeface="Calibri"/>
              </a:rPr>
              <a:t>Rolling deployment with health checks — automatic rollback if the new task fails /</a:t>
            </a:r>
            <a:r>
              <a:rPr sz="1600" b="0" dirty="0" err="1">
                <a:solidFill>
                  <a:srgbClr val="1A1D21"/>
                </a:solidFill>
                <a:latin typeface="Calibri"/>
              </a:rPr>
              <a:t>api</a:t>
            </a:r>
            <a:r>
              <a:rPr sz="1600" b="0" dirty="0">
                <a:solidFill>
                  <a:srgbClr val="1A1D21"/>
                </a:solidFill>
                <a:latin typeface="Calibri"/>
              </a:rPr>
              <a:t>/health.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 dirty="0">
                <a:solidFill>
                  <a:srgbClr val="1A1D21"/>
                </a:solidFill>
                <a:latin typeface="Calibri"/>
              </a:rPr>
              <a:t>Same image promoted dev → staging → prod — no environment drift.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WHAT WE NEED FROM TRUE 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Landing-zone provisioning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 dirty="0">
                <a:solidFill>
                  <a:srgbClr val="1A1D21"/>
                </a:solidFill>
                <a:latin typeface="Calibri"/>
              </a:rPr>
              <a:t>AWS account + VPC (2 AZs, public/private subnets) defined as code (Terraform/CDK).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 dirty="0">
                <a:solidFill>
                  <a:srgbClr val="1A1D21"/>
                </a:solidFill>
                <a:latin typeface="Calibri"/>
              </a:rPr>
              <a:t>ECR repository, ECS cluster + Fargate service, ALB + target group, WAF web ACL.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 dirty="0">
                <a:solidFill>
                  <a:srgbClr val="1A1D21"/>
                </a:solidFill>
                <a:latin typeface="Calibri"/>
              </a:rPr>
              <a:t>RDS PostgreSQL instance + Secrets Manager entries + KMS keys.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 dirty="0">
                <a:solidFill>
                  <a:srgbClr val="1A1D21"/>
                </a:solidFill>
                <a:latin typeface="Calibri"/>
              </a:rPr>
              <a:t>ACM certificate + Route 53 record for the hostname.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 dirty="0">
                <a:solidFill>
                  <a:srgbClr val="C77700"/>
                </a:solidFill>
                <a:latin typeface="Calibri"/>
              </a:rPr>
              <a:t>Open items owned by Group IT / Security (prerequisites, not app work):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5B6470"/>
                </a:solidFill>
                <a:latin typeface="Calibri"/>
              </a:rPr>
              <a:t>–  Entra ID app registration (SSO replaces </a:t>
            </a:r>
            <a:r>
              <a:rPr sz="1450" b="0" dirty="0" err="1">
                <a:solidFill>
                  <a:srgbClr val="5B6470"/>
                </a:solidFill>
                <a:latin typeface="Calibri"/>
              </a:rPr>
              <a:t>password+TOTP</a:t>
            </a:r>
            <a:r>
              <a:rPr sz="1450" b="0" dirty="0">
                <a:solidFill>
                  <a:srgbClr val="5B6470"/>
                </a:solidFill>
                <a:latin typeface="Calibri"/>
              </a:rPr>
              <a:t>) · Conditional Access MFA · DPIA + ROPA · pen-test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Saraiva</dc:creator>
  <cp:lastModifiedBy>Claudio Saraiva</cp:lastModifiedBy>
  <cp:revision>1</cp:revision>
  <dcterms:created xsi:type="dcterms:W3CDTF">2026-06-08T07:58:47Z</dcterms:created>
  <dcterms:modified xsi:type="dcterms:W3CDTF">2026-06-08T08:30:50Z</dcterms:modified>
</cp:coreProperties>
</file>