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1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Saraiva" userId="8d733127-7368-425e-8ed2-f38d49efb382" providerId="ADAL" clId="{368642AD-090B-455C-8F3C-FD01329B3999}"/>
    <pc:docChg chg="modSld sldOrd">
      <pc:chgData name="Claudio Saraiva" userId="8d733127-7368-425e-8ed2-f38d49efb382" providerId="ADAL" clId="{368642AD-090B-455C-8F3C-FD01329B3999}" dt="2026-06-07T16:02:50.741" v="2" actId="1076"/>
      <pc:docMkLst>
        <pc:docMk/>
      </pc:docMkLst>
      <pc:sldChg chg="modSp mod">
        <pc:chgData name="Claudio Saraiva" userId="8d733127-7368-425e-8ed2-f38d49efb382" providerId="ADAL" clId="{368642AD-090B-455C-8F3C-FD01329B3999}" dt="2026-06-07T16:02:50.741" v="2" actId="1076"/>
        <pc:sldMkLst>
          <pc:docMk/>
          <pc:sldMk cId="0" sldId="258"/>
        </pc:sldMkLst>
        <pc:spChg chg="mod">
          <ac:chgData name="Claudio Saraiva" userId="8d733127-7368-425e-8ed2-f38d49efb382" providerId="ADAL" clId="{368642AD-090B-455C-8F3C-FD01329B3999}" dt="2026-06-07T16:02:50.741" v="2" actId="1076"/>
          <ac:spMkLst>
            <pc:docMk/>
            <pc:sldMk cId="0" sldId="258"/>
            <ac:spMk id="28" creationId="{00000000-0000-0000-0000-000000000000}"/>
          </ac:spMkLst>
        </pc:spChg>
      </pc:sldChg>
      <pc:sldChg chg="ord">
        <pc:chgData name="Claudio Saraiva" userId="8d733127-7368-425e-8ed2-f38d49efb382" providerId="ADAL" clId="{368642AD-090B-455C-8F3C-FD01329B3999}" dt="2026-06-07T15:30:02.361" v="1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08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 i="0">
                <a:solidFill>
                  <a:srgbClr val="CFDAE2"/>
                </a:solidFill>
                <a:latin typeface="Calibri"/>
              </a:rPr>
              <a:t>PREPARED FOR TRUE 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Calibri"/>
              </a:rPr>
              <a:t>APSO Marketing Hub — AWS Fargate Target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900" b="0" i="0">
                <a:solidFill>
                  <a:srgbClr val="CFDAE2"/>
                </a:solidFill>
                <a:latin typeface="Calibri"/>
              </a:rPr>
              <a:t>The deployment sketch: a portable Next.js container on ECS Fargate in eu-central-1, behind ALB + WAF, with read-only egress. Same app that runs today — redeploy, not rewrite.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0" i="0">
                <a:solidFill>
                  <a:srgbClr val="9AB0BD"/>
                </a:solidFill>
                <a:latin typeface="Calibri"/>
              </a:rPr>
              <a:t>APSOparts AG · Angst+Pfister Group · v1.0 · prepared by Claudio Saraiva for the True Soft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application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What it is: </a:t>
            </a:r>
            <a:r>
              <a:rPr sz="1650">
                <a:solidFill>
                  <a:srgbClr val="1A1D21"/>
                </a:solidFill>
                <a:latin typeface="Calibri"/>
              </a:rPr>
              <a:t>an internal AI marketing-content assistant. Drafts LinkedIn / newsletter / blog / SEO copy in APSO tone — every output passes a mandatory human-approval gate.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Today (Phase 1): </a:t>
            </a:r>
            <a:r>
              <a:rPr sz="1650">
                <a:solidFill>
                  <a:srgbClr val="1A1D21"/>
                </a:solidFill>
                <a:latin typeface="Calibri"/>
              </a:rPr>
              <a:t>live on Railway EU. Isolated sandbox — no HubSpot, Magento, GA4 or customer data. Only outbound traffic is to Anthropic Claude + Google Gemini.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Stack: </a:t>
            </a:r>
            <a:r>
              <a:rPr sz="1650">
                <a:solidFill>
                  <a:srgbClr val="1A1D21"/>
                </a:solidFill>
                <a:latin typeface="Calibri"/>
              </a:rPr>
              <a:t>Next.js 15 + React 19 + Node.js 20. PostgreSQL for users + audit log. Stateless app container.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1">
                <a:solidFill>
                  <a:srgbClr val="1A1D21"/>
                </a:solidFill>
                <a:latin typeface="Calibri"/>
              </a:rPr>
              <a:t>Ask of True Soft: </a:t>
            </a:r>
            <a:r>
              <a:rPr sz="1650">
                <a:solidFill>
                  <a:srgbClr val="1A1D21"/>
                </a:solidFill>
                <a:latin typeface="Calibri"/>
              </a:rPr>
              <a:t>redeploy the same container onto AWS ECS Fargate in eu-central-1 with corporate-grade chrome (VPC, WAF, Secrets Manager, SSO).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ED1B2F"/>
                </a:solidFill>
                <a:latin typeface="Calibri"/>
              </a:rPr>
              <a:t>►  </a:t>
            </a:r>
            <a:r>
              <a:rPr sz="1650" b="0">
                <a:solidFill>
                  <a:srgbClr val="1A1D21"/>
                </a:solidFill>
                <a:latin typeface="Calibri"/>
              </a:rPr>
              <a:t>It is a redeploy, not a rewrite — the container image is portable across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THE SKETCH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AWS Fargate target architecture — eu-central-1 (Frankfurt)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07008"/>
            <a:ext cx="6035040" cy="457200"/>
          </a:xfrm>
          <a:prstGeom prst="roundRect">
            <a:avLst/>
          </a:prstGeom>
          <a:solidFill>
            <a:srgbClr val="274E64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6035040" cy="4572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 browser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HTTPS / TLS 1.3</a:t>
            </a:r>
          </a:p>
        </p:txBody>
      </p:sp>
      <p:sp>
        <p:nvSpPr>
          <p:cNvPr id="8" name="Down Arrow 7"/>
          <p:cNvSpPr/>
          <p:nvPr/>
        </p:nvSpPr>
        <p:spPr>
          <a:xfrm>
            <a:off x="3538728" y="170078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6035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6035040" cy="4572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>
                <a:solidFill>
                  <a:srgbClr val="274E64"/>
                </a:solidFill>
                <a:latin typeface="Calibri"/>
              </a:rPr>
              <a:t>Amazon Route 53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DNS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538728" y="243230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670048"/>
            <a:ext cx="6035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6035040" cy="4572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>
                <a:solidFill>
                  <a:srgbClr val="274E64"/>
                </a:solidFill>
                <a:latin typeface="Calibri"/>
              </a:rPr>
              <a:t>AWS WAF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OWASP Core Rule Set + rate limiting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538728" y="316382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401568"/>
            <a:ext cx="6035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6035040" cy="4572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400" b="1">
                <a:solidFill>
                  <a:srgbClr val="274E64"/>
                </a:solidFill>
                <a:latin typeface="Calibri"/>
              </a:rPr>
              <a:t>Application Load Balancer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public HTTPS :443  →  container :3000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38728" y="389534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4133087"/>
            <a:ext cx="6035040" cy="777240"/>
          </a:xfrm>
          <a:prstGeom prst="roundRect">
            <a:avLst/>
          </a:prstGeom>
          <a:solidFill>
            <a:srgbClr val="EEF2F5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133087"/>
            <a:ext cx="6035040" cy="77724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500" b="1" dirty="0">
                <a:solidFill>
                  <a:srgbClr val="274E64"/>
                </a:solidFill>
                <a:latin typeface="Calibri"/>
              </a:rPr>
              <a:t>ECS Fargate Service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2 × Next.js task (0.5 vCPU / 1 GB) across 2 Availability Zones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538728" y="4946904"/>
            <a:ext cx="237744" cy="201168"/>
          </a:xfrm>
          <a:prstGeom prst="downArrow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5184648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184648"/>
            <a:ext cx="1920240" cy="65836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150" b="1">
                <a:solidFill>
                  <a:srgbClr val="274E64"/>
                </a:solidFill>
                <a:latin typeface="Calibri"/>
              </a:rPr>
              <a:t>RDS PostgreSQL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users +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184648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80" y="5184648"/>
            <a:ext cx="1920240" cy="65836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150" b="1">
                <a:solidFill>
                  <a:srgbClr val="274E64"/>
                </a:solidFill>
                <a:latin typeface="Calibri"/>
              </a:rPr>
              <a:t>Secrets Manager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+ KMS encryption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5184648"/>
            <a:ext cx="192024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5184648"/>
            <a:ext cx="1920240" cy="65836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150" b="1">
                <a:solidFill>
                  <a:srgbClr val="274E64"/>
                </a:solidFill>
                <a:latin typeface="Calibri"/>
              </a:rPr>
              <a:t>CloudWatch Logs</a:t>
            </a:r>
          </a:p>
          <a:p>
            <a:pPr algn="ctr"/>
            <a:r>
              <a:rPr sz="1050">
                <a:solidFill>
                  <a:srgbClr val="5B6470"/>
                </a:solidFill>
                <a:latin typeface="Calibri"/>
              </a:rPr>
              <a:t>egress + app, 24 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1207008"/>
            <a:ext cx="4572000" cy="46360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1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92340" y="1481328"/>
            <a:ext cx="42062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 dirty="0">
                <a:solidFill>
                  <a:srgbClr val="ED1B2F"/>
                </a:solidFill>
                <a:latin typeface="Calibri"/>
              </a:rPr>
              <a:t>OUTBOUND — server-side only, all egress logged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675120" y="43616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1737360"/>
            <a:ext cx="4114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250" b="0" dirty="0">
                <a:solidFill>
                  <a:srgbClr val="1A1D21"/>
                </a:solidFill>
                <a:latin typeface="Calibri"/>
              </a:rPr>
              <a:t>Anthropic Claude API — content generation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api.anthropic.com : 443 (HTTPS)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250" b="0" dirty="0">
                <a:solidFill>
                  <a:srgbClr val="1A1D21"/>
                </a:solidFill>
                <a:latin typeface="Calibri"/>
              </a:rPr>
              <a:t>Google Gemini API — A/B + image generation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generativelanguage.googleapis.com : 443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D1B2F"/>
                </a:solidFill>
                <a:latin typeface="Calibri"/>
              </a:rPr>
              <a:t>►  </a:t>
            </a:r>
            <a:r>
              <a:rPr sz="1250" b="0" dirty="0">
                <a:solidFill>
                  <a:srgbClr val="C77700"/>
                </a:solidFill>
                <a:latin typeface="Calibri"/>
              </a:rPr>
              <a:t>Phase 2 (read-only, opt-in per security review):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GA4 · Search Console · Magento REST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5B6470"/>
                </a:solidFill>
                <a:latin typeface="Calibri"/>
              </a:rPr>
              <a:t>–  LinkedIn Marketing · HubSpot (narrow allow-list)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Fargate — EC2 vs Fargate vs App Runner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4E64"/>
                          </a:solidFill>
                          <a:latin typeface="Calibri"/>
                        </a:rPr>
                        <a:t>EC2 VM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1D21"/>
                          </a:solidFill>
                          <a:latin typeface="Calibri"/>
                        </a:rPr>
                        <a:t>Possible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1D21"/>
                          </a:solidFill>
                          <a:latin typeface="Calibri"/>
                        </a:rPr>
                        <a:t>Easy to launch, but we own the OS: patching, reboots, manual scaling, no built-in HA. Good only for a PoC.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4E64"/>
                          </a:solidFill>
                          <a:latin typeface="Calibri"/>
                        </a:rPr>
                        <a:t>ECS Fargate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1D21"/>
                          </a:solidFill>
                          <a:latin typeface="Calibri"/>
                        </a:rPr>
                        <a:t>Recommended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1D21"/>
                          </a:solidFill>
                          <a:latin typeface="Calibri"/>
                        </a:rPr>
                        <a:t>AWS runs the container — no servers. Auto-scales, HA across AZs, patch = redeploy image, native ALB/WAF/Secrets integration.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4E64"/>
                          </a:solidFill>
                          <a:latin typeface="Calibri"/>
                        </a:rPr>
                        <a:t>App Runner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1D21"/>
                          </a:solidFill>
                          <a:latin typeface="Calibri"/>
                        </a:rPr>
                        <a:t>Fallback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A1D21"/>
                          </a:solidFill>
                          <a:latin typeface="Calibri"/>
                        </a:rPr>
                        <a:t>Closest to Railway, least config, scales to zero. But less network control and weaker VPC peering for Phase 2 integrations.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D1B2F"/>
                </a:solidFill>
              </a:rPr>
              <a:t>●  </a:t>
            </a:r>
            <a:r>
              <a:rPr sz="1150" i="1">
                <a:solidFill>
                  <a:srgbClr val="274E64"/>
                </a:solidFill>
                <a:latin typeface="Calibri"/>
              </a:rPr>
              <a:t>Recommendation: ECS Fargate — same outcome as a VM, with the operational concerns (patching, HA, scaling, TLS) owned by AWS.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NETWORKING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VPC, subnets, security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VPC in eu-central-1, spanning 2 Availability Zones for high availability.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Public subnets: </a:t>
            </a:r>
            <a:r>
              <a:rPr sz="1600">
                <a:solidFill>
                  <a:srgbClr val="1A1D21"/>
                </a:solidFill>
                <a:latin typeface="Calibri"/>
              </a:rPr>
              <a:t>ALB only.   Private subnets: Fargate tasks + RDS (no public IP).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Security group — ingress: </a:t>
            </a:r>
            <a:r>
              <a:rPr sz="1600">
                <a:solidFill>
                  <a:srgbClr val="1A1D21"/>
                </a:solidFill>
                <a:latin typeface="Calibri"/>
              </a:rPr>
              <a:t>allow 443 to the ALB; ALB → tasks on 3000 only.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Security group — egress: </a:t>
            </a:r>
            <a:r>
              <a:rPr sz="1600">
                <a:solidFill>
                  <a:srgbClr val="1A1D21"/>
                </a:solidFill>
                <a:latin typeface="Calibri"/>
              </a:rPr>
              <a:t>allow 443 to Claude + Gemini endpoints; 5432 to RDS in-VPC; 53 DNS. Everything else denied.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C77700"/>
                </a:solidFill>
                <a:latin typeface="Calibri"/>
              </a:rPr>
              <a:t>Egress path options to confirm: </a:t>
            </a:r>
            <a:r>
              <a:rPr sz="1600">
                <a:solidFill>
                  <a:srgbClr val="C77700"/>
                </a:solidFill>
                <a:latin typeface="Calibri"/>
              </a:rPr>
              <a:t>NAT Gateway (simplest) vs VPC endpoints + a single NAT (cheaper). Affects cost.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TLS: </a:t>
            </a:r>
            <a:r>
              <a:rPr sz="1600">
                <a:solidFill>
                  <a:srgbClr val="1A1D21"/>
                </a:solidFill>
                <a:latin typeface="Calibri"/>
              </a:rPr>
              <a:t>ACM certificate on the ALB; Route 53 record for the hostname. App speaks plain HTTP inside the VPC.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CONTAINER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the task definition needs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274E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Multi-stage Node 20 Alpine, Next.js standalone output → ECR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Container port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3000 (HTTP)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Health check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GET /api/health → 200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CPU / Memory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0.5 vCPU / 1 GB (start); target-tracking autoscale on CPU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Desired count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2 tasks (HA); min 1, max small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Secrets (from Secrets Manager)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AUTH_SECRET · AUTH_MASTER_PASSWORD · ANTHROPIC_API_KEY · GEMINI_API_KEY · DATABASE_URL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Env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NODE_ENV=production · PORT=3000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Logs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awslogs driver → CloudWatch</a:t>
                      </a:r>
                    </a:p>
                  </a:txBody>
                  <a:tcPr marL="76200" marR="76200" marT="38100" marB="38100"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4E64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1"/>
                          </a:solidFill>
                          <a:latin typeface="Calibri"/>
                        </a:rPr>
                        <a:t>None in the container — fully stateless; all state in RDS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DEFENCE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Every API request — 9 checks in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1. TLS termination — at the ALB.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2. WAF filtering — OWASP CRS + rate limit + bad inputs.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3. Auth check — valid session? → 401 if not.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4. Role check — viewer / user / admin allowed? → 403 if not.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5. Rate limit — per user, per route → 429 if exceeded.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6. Input validation — Zod schema → 400 if invalid.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7. Business logic — Claude / Gemini / read integrations.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8. Output sanitisation — strip unexpected HTML, validate shape.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9. Audit log entry — user + route + outcome + payload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263640"/>
            <a:ext cx="11064240" cy="457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2636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D1B2F"/>
                </a:solidFill>
              </a:rPr>
              <a:t>●  </a:t>
            </a:r>
            <a:r>
              <a:rPr sz="1150" i="1">
                <a:solidFill>
                  <a:srgbClr val="274E64"/>
                </a:solidFill>
                <a:latin typeface="Calibri"/>
              </a:rPr>
              <a:t>This middleware is already enforced in the app today — it travels with the container, unchanged, to AWS.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Data, encryption, residency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EU region only (eu-central-1) — data residency in Frankfurt.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Encryption: </a:t>
            </a:r>
            <a:r>
              <a:rPr sz="1600">
                <a:solidFill>
                  <a:srgbClr val="1A1D21"/>
                </a:solidFill>
                <a:latin typeface="Calibri"/>
              </a:rPr>
              <a:t>TLS in transit; KMS at rest for RDS + Secrets Manager.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Secrets server-side only — no API key ever reaches the browser (CSP enforced).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Phase 1 data surface: </a:t>
            </a:r>
            <a:r>
              <a:rPr sz="1600">
                <a:solidFill>
                  <a:srgbClr val="1A1D21"/>
                </a:solidFill>
                <a:latin typeface="Calibri"/>
              </a:rPr>
              <a:t>bcrypt password hashes + 2 API keys. No PII, no CRM, only public content.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All corporate integrations (Phase 2) are read-only by default; write access is opt-in, per integration, per security review.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Additive never destructive: </a:t>
            </a:r>
            <a:r>
              <a:rPr sz="1600">
                <a:solidFill>
                  <a:srgbClr val="1A1D21"/>
                </a:solidFill>
                <a:latin typeface="Calibri"/>
              </a:rPr>
              <a:t>the hub can be torn down at any phase with zero data loss in source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CI /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updates ship — GitHub Actions → ECR → ECS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057400" cy="914400"/>
          </a:xfrm>
          <a:prstGeom prst="roundRect">
            <a:avLst/>
          </a:prstGeom>
          <a:solidFill>
            <a:srgbClr val="274E64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05740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git push / merge to main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developer action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52344" y="25328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0" y="2194560"/>
            <a:ext cx="2057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205740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GitHub Actions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build + test 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12664" y="25328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60720" y="2194560"/>
            <a:ext cx="2057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2194560"/>
            <a:ext cx="205740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Amazon ECR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push container image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72984" y="2532888"/>
            <a:ext cx="411480" cy="237744"/>
          </a:xfrm>
          <a:prstGeom prst="rightArrow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2194560"/>
            <a:ext cx="20574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4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2057400" cy="91440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250" b="1">
                <a:solidFill>
                  <a:srgbClr val="274E64"/>
                </a:solidFill>
                <a:latin typeface="Calibri"/>
              </a:rPr>
              <a:t>ECS Fargate</a:t>
            </a:r>
          </a:p>
          <a:p>
            <a:pPr algn="ctr"/>
            <a:r>
              <a:rPr sz="1000">
                <a:solidFill>
                  <a:srgbClr val="5B6470"/>
                </a:solidFill>
                <a:latin typeface="Calibri"/>
              </a:rPr>
              <a:t>update-service → rolling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1">
                <a:solidFill>
                  <a:srgbClr val="1A1D21"/>
                </a:solidFill>
                <a:latin typeface="Calibri"/>
              </a:rPr>
              <a:t>Authentication: </a:t>
            </a:r>
            <a:r>
              <a:rPr sz="1600">
                <a:solidFill>
                  <a:srgbClr val="1A1D21"/>
                </a:solidFill>
                <a:latin typeface="Calibri"/>
              </a:rPr>
              <a:t>a GitHub-OIDC IAM role — no long-lived AWS keys stored in GitHub.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Rolling deployment with health checks — automatic rollback if the new task fails /api/health.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ED1B2F"/>
                </a:solidFill>
                <a:latin typeface="Calibri"/>
              </a:rPr>
              <a:t>►  </a:t>
            </a:r>
            <a:r>
              <a:rPr sz="1600" b="0">
                <a:solidFill>
                  <a:srgbClr val="1A1D21"/>
                </a:solidFill>
                <a:latin typeface="Calibri"/>
              </a:rPr>
              <a:t>Same image promoted dev → staging → prod — no environment drift.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74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>
                <a:solidFill>
                  <a:srgbClr val="CFDAE2"/>
                </a:solidFill>
                <a:latin typeface="Calibri"/>
              </a:rPr>
              <a:t>WHAT WE NEED FROM TRUE 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Landing-zone provisioning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AWS account + VPC (2 AZs, public/private subnets) defined as code (Terraform/CDK).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ECR repository, ECS cluster + Fargate service, ALB + target group, WAF web ACL.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RDS PostgreSQL instance + Secrets Manager entries + KMS keys.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ACM certificate + Route 53 record for the hostname.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1A1D21"/>
                </a:solidFill>
                <a:latin typeface="Calibri"/>
              </a:rPr>
              <a:t>GitHub-OIDC IAM role for CI/CD + a scoped human deploy role (see Permissions deck).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ED1B2F"/>
                </a:solidFill>
                <a:latin typeface="Calibri"/>
              </a:rPr>
              <a:t>►  </a:t>
            </a:r>
            <a:r>
              <a:rPr sz="1550" b="0">
                <a:solidFill>
                  <a:srgbClr val="C77700"/>
                </a:solidFill>
                <a:latin typeface="Calibri"/>
              </a:rPr>
              <a:t>Open items owned by Group IT / Security (prerequisites, not app work):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5B6470"/>
                </a:solidFill>
                <a:latin typeface="Calibri"/>
              </a:rPr>
              <a:t>–  Entra ID app registration (SSO replaces password+TOTP) · Conditional Access MFA · DPIA + ROPA · pen-test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Saraiva</cp:lastModifiedBy>
  <cp:revision>1</cp:revision>
  <dcterms:created xsi:type="dcterms:W3CDTF">2013-01-27T09:14:16Z</dcterms:created>
  <dcterms:modified xsi:type="dcterms:W3CDTF">2026-06-07T16:03:01Z</dcterms:modified>
  <cp:category/>
</cp:coreProperties>
</file>