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74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50800"/>
          </a:xfrm>
          <a:prstGeom prst="rect">
            <a:avLst/>
          </a:prstGeom>
          <a:solidFill>
            <a:srgbClr val="ED1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051560"/>
            <a:ext cx="10515600" cy="365760"/>
          </a:xfrm>
          <a:prstGeom prst="rect">
            <a:avLst/>
          </a:prstGeom>
          <a:noFill/>
        </p:spPr>
        <p:txBody>
          <a:bodyPr wrap="square" anchor="t" lIns="25400" rIns="25400" tIns="12700" bIns="12700">
            <a:spAutoFit/>
          </a:bodyPr>
          <a:lstStyle/>
          <a:p>
            <a:pPr algn="l"/>
            <a:r>
              <a:rPr sz="1500" b="1" i="0">
                <a:solidFill>
                  <a:srgbClr val="CFDAE2"/>
                </a:solidFill>
                <a:latin typeface="Calibri"/>
              </a:rPr>
              <a:t>INTERNAL PREPARATION — NOT FOR DISTRIBUTION</a:t>
            </a:r>
          </a:p>
        </p:txBody>
      </p:sp>
      <p:sp>
        <p:nvSpPr>
          <p:cNvPr id="5" name="TextBox 4"/>
          <p:cNvSpPr txBox="1"/>
          <p:nvPr/>
        </p:nvSpPr>
        <p:spPr>
          <a:xfrm>
            <a:off x="822960" y="1417320"/>
            <a:ext cx="10515600" cy="914400"/>
          </a:xfrm>
          <a:prstGeom prst="rect">
            <a:avLst/>
          </a:prstGeom>
          <a:noFill/>
        </p:spPr>
        <p:txBody>
          <a:bodyPr wrap="square" anchor="t" lIns="25400" rIns="25400" tIns="12700" bIns="12700">
            <a:spAutoFit/>
          </a:bodyPr>
          <a:lstStyle/>
          <a:p>
            <a:pPr algn="l"/>
            <a:r>
              <a:rPr sz="4000" b="1" i="0">
                <a:solidFill>
                  <a:srgbClr val="FFFFFF"/>
                </a:solidFill>
                <a:latin typeface="Calibri"/>
              </a:rPr>
              <a:t>AWS / True Soft Meeting — My Preparation</a:t>
            </a:r>
          </a:p>
        </p:txBody>
      </p:sp>
      <p:sp>
        <p:nvSpPr>
          <p:cNvPr id="6" name="TextBox 5"/>
          <p:cNvSpPr txBox="1"/>
          <p:nvPr/>
        </p:nvSpPr>
        <p:spPr>
          <a:xfrm>
            <a:off x="822960" y="2560320"/>
            <a:ext cx="10515600" cy="1097280"/>
          </a:xfrm>
          <a:prstGeom prst="rect">
            <a:avLst/>
          </a:prstGeom>
          <a:noFill/>
        </p:spPr>
        <p:txBody>
          <a:bodyPr wrap="square" anchor="t" lIns="25400" rIns="25400" tIns="12700" bIns="12700">
            <a:spAutoFit/>
          </a:bodyPr>
          <a:lstStyle/>
          <a:p>
            <a:pPr algn="l"/>
            <a:r>
              <a:rPr sz="1900" b="0" i="0">
                <a:solidFill>
                  <a:srgbClr val="CFDAE2"/>
                </a:solidFill>
                <a:latin typeface="Calibri"/>
              </a:rPr>
              <a:t>Everything I need to walk in fluent: Fargate, the architecture sketch, ports, the Claude API, and how I get the right to deploy myself.</a:t>
            </a:r>
          </a:p>
        </p:txBody>
      </p:sp>
      <p:sp>
        <p:nvSpPr>
          <p:cNvPr id="7" name="TextBox 6"/>
          <p:cNvSpPr txBox="1"/>
          <p:nvPr/>
        </p:nvSpPr>
        <p:spPr>
          <a:xfrm>
            <a:off x="822960" y="6126480"/>
            <a:ext cx="10515600" cy="457200"/>
          </a:xfrm>
          <a:prstGeom prst="rect">
            <a:avLst/>
          </a:prstGeom>
          <a:noFill/>
        </p:spPr>
        <p:txBody>
          <a:bodyPr wrap="square" anchor="t" lIns="25400" rIns="25400" tIns="12700" bIns="12700">
            <a:spAutoFit/>
          </a:bodyPr>
          <a:lstStyle/>
          <a:p>
            <a:pPr algn="l"/>
            <a:r>
              <a:rPr sz="1200" b="0" i="0">
                <a:solidFill>
                  <a:srgbClr val="9AB0BD"/>
                </a:solidFill>
                <a:latin typeface="Calibri"/>
              </a:rPr>
              <a:t>APSOparts AG · Angst+Pfister Group · prepared by Claudio Saraiva · Monday session with True Soft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274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ED1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1064240" cy="274320"/>
          </a:xfrm>
          <a:prstGeom prst="rect">
            <a:avLst/>
          </a:prstGeom>
          <a:noFill/>
        </p:spPr>
        <p:txBody>
          <a:bodyPr wrap="square" anchor="t" lIns="25400" rIns="25400" tIns="12700" bIns="12700">
            <a:spAutoFit/>
          </a:bodyPr>
          <a:lstStyle/>
          <a:p>
            <a:pPr algn="l"/>
            <a:r>
              <a:rPr sz="1200" b="1" i="0">
                <a:solidFill>
                  <a:srgbClr val="CFDAE2"/>
                </a:solidFill>
                <a:latin typeface="Calibri"/>
              </a:rPr>
              <a:t>READ THIS FIRST</a:t>
            </a:r>
          </a:p>
        </p:txBody>
      </p:sp>
      <p:sp>
        <p:nvSpPr>
          <p:cNvPr id="5" name="TextBox 4"/>
          <p:cNvSpPr txBox="1"/>
          <p:nvPr/>
        </p:nvSpPr>
        <p:spPr>
          <a:xfrm>
            <a:off x="548640" y="402336"/>
            <a:ext cx="11064240" cy="548640"/>
          </a:xfrm>
          <a:prstGeom prst="rect">
            <a:avLst/>
          </a:prstGeom>
          <a:noFill/>
        </p:spPr>
        <p:txBody>
          <a:bodyPr wrap="square" anchor="t" lIns="25400" rIns="25400" tIns="12700" bIns="12700">
            <a:spAutoFit/>
          </a:bodyPr>
          <a:lstStyle/>
          <a:p>
            <a:pPr algn="l"/>
            <a:r>
              <a:rPr sz="2600" b="1" i="0">
                <a:solidFill>
                  <a:srgbClr val="FFFFFF"/>
                </a:solidFill>
                <a:latin typeface="Calibri"/>
              </a:rPr>
              <a:t>My two goals + the 5 things to remember</a:t>
            </a:r>
          </a:p>
        </p:txBody>
      </p:sp>
      <p:sp>
        <p:nvSpPr>
          <p:cNvPr id="6" name="TextBox 5"/>
          <p:cNvSpPr txBox="1"/>
          <p:nvPr/>
        </p:nvSpPr>
        <p:spPr>
          <a:xfrm>
            <a:off x="640080" y="1325880"/>
            <a:ext cx="10972800" cy="5212080"/>
          </a:xfrm>
          <a:prstGeom prst="rect">
            <a:avLst/>
          </a:prstGeom>
          <a:noFill/>
        </p:spPr>
        <p:txBody>
          <a:bodyPr wrap="square">
            <a:spAutoFit/>
          </a:bodyPr>
          <a:lstStyle/>
          <a:p>
            <a:pPr>
              <a:spcBef>
                <a:spcPts val="0"/>
              </a:spcBef>
              <a:spcAft>
                <a:spcPts val="1100"/>
              </a:spcAft>
            </a:pPr>
            <a:r>
              <a:rPr sz="1700" b="1">
                <a:solidFill>
                  <a:srgbClr val="ED1B2F"/>
                </a:solidFill>
                <a:latin typeface="Calibri"/>
              </a:rPr>
              <a:t>►  </a:t>
            </a:r>
            <a:r>
              <a:rPr b="1" sz="1700">
                <a:solidFill>
                  <a:srgbClr val="1A1D21"/>
                </a:solidFill>
                <a:latin typeface="Calibri"/>
              </a:rPr>
              <a:t>Goal 1 — Be 100% fluent: </a:t>
            </a:r>
            <a:r>
              <a:rPr sz="1700">
                <a:solidFill>
                  <a:srgbClr val="1A1D21"/>
                </a:solidFill>
                <a:latin typeface="Calibri"/>
              </a:rPr>
              <a:t>hold my own with the True Soft architect on Fargate, networking and the Claude API.</a:t>
            </a:r>
          </a:p>
          <a:p>
            <a:pPr>
              <a:spcBef>
                <a:spcPts val="0"/>
              </a:spcBef>
              <a:spcAft>
                <a:spcPts val="1100"/>
              </a:spcAft>
            </a:pPr>
            <a:r>
              <a:rPr sz="1700" b="1">
                <a:solidFill>
                  <a:srgbClr val="ED1B2F"/>
                </a:solidFill>
                <a:latin typeface="Calibri"/>
              </a:rPr>
              <a:t>►  </a:t>
            </a:r>
            <a:r>
              <a:rPr b="1" sz="1700">
                <a:solidFill>
                  <a:srgbClr val="1A1D21"/>
                </a:solidFill>
                <a:latin typeface="Calibri"/>
              </a:rPr>
              <a:t>Goal 2 — Get self-deploy rights: </a:t>
            </a:r>
            <a:r>
              <a:rPr sz="1700">
                <a:solidFill>
                  <a:srgbClr val="1A1D21"/>
                </a:solidFill>
                <a:latin typeface="Calibri"/>
              </a:rPr>
              <a:t>leave with a concrete path to deploy the app myself (CI/CD + scoped role).</a:t>
            </a:r>
          </a:p>
          <a:p>
            <a:pPr>
              <a:spcBef>
                <a:spcPts val="0"/>
              </a:spcBef>
              <a:spcAft>
                <a:spcPts val="1100"/>
              </a:spcAft>
            </a:pPr>
            <a:r>
              <a:rPr sz="1700" b="1">
                <a:solidFill>
                  <a:srgbClr val="ED1B2F"/>
                </a:solidFill>
                <a:latin typeface="Calibri"/>
              </a:rPr>
              <a:t>►  </a:t>
            </a:r>
            <a:r>
              <a:rPr sz="1700" b="0">
                <a:solidFill>
                  <a:srgbClr val="1A1D21"/>
                </a:solidFill>
                <a:latin typeface="Calibri"/>
              </a:rPr>
              <a:t>“Sketch” = an architecture diagram, NOT a finished app. I already have it. The app runs today on Railway.</a:t>
            </a:r>
          </a:p>
          <a:p>
            <a:pPr>
              <a:spcBef>
                <a:spcPts val="0"/>
              </a:spcBef>
              <a:spcAft>
                <a:spcPts val="1100"/>
              </a:spcAft>
            </a:pPr>
            <a:r>
              <a:rPr sz="1700" b="1">
                <a:solidFill>
                  <a:srgbClr val="ED1B2F"/>
                </a:solidFill>
                <a:latin typeface="Calibri"/>
              </a:rPr>
              <a:t>►  </a:t>
            </a:r>
            <a:r>
              <a:rPr sz="1700" b="0">
                <a:solidFill>
                  <a:srgbClr val="1A1D21"/>
                </a:solidFill>
                <a:latin typeface="Calibri"/>
              </a:rPr>
              <a:t>Moving to AWS is a REDEPLOY, not a rewrite — the container image is portable.</a:t>
            </a:r>
          </a:p>
          <a:p>
            <a:pPr>
              <a:spcBef>
                <a:spcPts val="0"/>
              </a:spcBef>
              <a:spcAft>
                <a:spcPts val="1100"/>
              </a:spcAft>
            </a:pPr>
            <a:r>
              <a:rPr sz="1700" b="1">
                <a:solidFill>
                  <a:srgbClr val="ED1B2F"/>
                </a:solidFill>
                <a:latin typeface="Calibri"/>
              </a:rPr>
              <a:t>►  </a:t>
            </a:r>
            <a:r>
              <a:rPr b="1" sz="1700">
                <a:solidFill>
                  <a:srgbClr val="1A1D21"/>
                </a:solidFill>
                <a:latin typeface="Calibri"/>
              </a:rPr>
              <a:t>Ports: </a:t>
            </a:r>
            <a:r>
              <a:rPr sz="1700">
                <a:solidFill>
                  <a:srgbClr val="1A1D21"/>
                </a:solidFill>
                <a:latin typeface="Calibri"/>
              </a:rPr>
              <a:t>app listens on ONE inbound port (3000); it calls Claude + Gemini outbound over HTTPS (443). “Port 903” → clarify (likely 443 or a proxy port).</a:t>
            </a:r>
          </a:p>
          <a:p>
            <a:pPr>
              <a:spcBef>
                <a:spcPts val="0"/>
              </a:spcBef>
              <a:spcAft>
                <a:spcPts val="1100"/>
              </a:spcAft>
            </a:pPr>
            <a:r>
              <a:rPr sz="1700" b="1">
                <a:solidFill>
                  <a:srgbClr val="ED1B2F"/>
                </a:solidFill>
                <a:latin typeface="Calibri"/>
              </a:rPr>
              <a:t>►  </a:t>
            </a:r>
            <a:r>
              <a:rPr b="1" sz="1700">
                <a:solidFill>
                  <a:srgbClr val="1A1D21"/>
                </a:solidFill>
                <a:latin typeface="Calibri"/>
              </a:rPr>
              <a:t>Real gap to close this week: </a:t>
            </a:r>
            <a:r>
              <a:rPr sz="1700">
                <a:solidFill>
                  <a:srgbClr val="1A1D21"/>
                </a:solidFill>
                <a:latin typeface="Calibri"/>
              </a:rPr>
              <a:t>there is no Dockerfile and no health endpoint yet — Fargate needs both.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274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ED1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1064240" cy="274320"/>
          </a:xfrm>
          <a:prstGeom prst="rect">
            <a:avLst/>
          </a:prstGeom>
          <a:noFill/>
        </p:spPr>
        <p:txBody>
          <a:bodyPr wrap="square" anchor="t" lIns="25400" rIns="25400" tIns="12700" bIns="12700">
            <a:spAutoFit/>
          </a:bodyPr>
          <a:lstStyle/>
          <a:p>
            <a:pPr algn="l"/>
            <a:r>
              <a:rPr sz="1200" b="1" i="0">
                <a:solidFill>
                  <a:srgbClr val="CFDAE2"/>
                </a:solidFill>
                <a:latin typeface="Calibri"/>
              </a:rPr>
              <a:t>CONCEPT</a:t>
            </a:r>
          </a:p>
        </p:txBody>
      </p:sp>
      <p:sp>
        <p:nvSpPr>
          <p:cNvPr id="5" name="TextBox 4"/>
          <p:cNvSpPr txBox="1"/>
          <p:nvPr/>
        </p:nvSpPr>
        <p:spPr>
          <a:xfrm>
            <a:off x="548640" y="402336"/>
            <a:ext cx="11064240" cy="548640"/>
          </a:xfrm>
          <a:prstGeom prst="rect">
            <a:avLst/>
          </a:prstGeom>
          <a:noFill/>
        </p:spPr>
        <p:txBody>
          <a:bodyPr wrap="square" anchor="t" lIns="25400" rIns="25400" tIns="12700" bIns="12700">
            <a:spAutoFit/>
          </a:bodyPr>
          <a:lstStyle/>
          <a:p>
            <a:pPr algn="l"/>
            <a:r>
              <a:rPr sz="2600" b="1" i="0">
                <a:solidFill>
                  <a:srgbClr val="FFFFFF"/>
                </a:solidFill>
                <a:latin typeface="Calibri"/>
              </a:rPr>
              <a:t>What Fargate actually is — in plain words</a:t>
            </a:r>
          </a:p>
        </p:txBody>
      </p:sp>
      <p:sp>
        <p:nvSpPr>
          <p:cNvPr id="6" name="TextBox 5"/>
          <p:cNvSpPr txBox="1"/>
          <p:nvPr/>
        </p:nvSpPr>
        <p:spPr>
          <a:xfrm>
            <a:off x="640080" y="1325880"/>
            <a:ext cx="10972800" cy="5212080"/>
          </a:xfrm>
          <a:prstGeom prst="rect">
            <a:avLst/>
          </a:prstGeom>
          <a:noFill/>
        </p:spPr>
        <p:txBody>
          <a:bodyPr wrap="square">
            <a:spAutoFit/>
          </a:bodyPr>
          <a:lstStyle/>
          <a:p>
            <a:pPr>
              <a:spcBef>
                <a:spcPts val="0"/>
              </a:spcBef>
              <a:spcAft>
                <a:spcPts val="700"/>
              </a:spcAft>
            </a:pPr>
            <a:r>
              <a:rPr sz="1550" b="1">
                <a:solidFill>
                  <a:srgbClr val="ED1B2F"/>
                </a:solidFill>
                <a:latin typeface="Calibri"/>
              </a:rPr>
              <a:t>►  </a:t>
            </a:r>
            <a:r>
              <a:rPr b="1" sz="1550">
                <a:solidFill>
                  <a:srgbClr val="1A1D21"/>
                </a:solidFill>
                <a:latin typeface="Calibri"/>
              </a:rPr>
              <a:t>ECS = AWS’s container orchestrator. Fargate = the serverless way to run containers: </a:t>
            </a:r>
            <a:r>
              <a:rPr sz="1550">
                <a:solidFill>
                  <a:srgbClr val="1A1D21"/>
                </a:solidFill>
                <a:latin typeface="Calibri"/>
              </a:rPr>
              <a:t>I give AWS an image, AWS runs it.</a:t>
            </a:r>
          </a:p>
          <a:p>
            <a:pPr lvl="1">
              <a:spcBef>
                <a:spcPts val="0"/>
              </a:spcBef>
              <a:spcAft>
                <a:spcPts val="700"/>
              </a:spcAft>
            </a:pPr>
            <a:r>
              <a:rPr sz="1450" b="0">
                <a:solidFill>
                  <a:srgbClr val="5B6470"/>
                </a:solidFill>
                <a:latin typeface="Calibri"/>
              </a:rPr>
              <a:t>–  No server, no OS, no patching, no scaling machines to manage.</a:t>
            </a:r>
          </a:p>
          <a:p>
            <a:pPr>
              <a:spcBef>
                <a:spcPts val="0"/>
              </a:spcBef>
              <a:spcAft>
                <a:spcPts val="700"/>
              </a:spcAft>
            </a:pPr>
            <a:r>
              <a:rPr sz="1550" b="1">
                <a:solidFill>
                  <a:srgbClr val="ED1B2F"/>
                </a:solidFill>
                <a:latin typeface="Calibri"/>
              </a:rPr>
              <a:t>►  </a:t>
            </a:r>
            <a:r>
              <a:rPr b="1" sz="1550">
                <a:solidFill>
                  <a:srgbClr val="1A1D21"/>
                </a:solidFill>
                <a:latin typeface="Calibri"/>
              </a:rPr>
              <a:t>Mental model vs Railway: </a:t>
            </a:r>
            <a:r>
              <a:rPr sz="1550">
                <a:solidFill>
                  <a:srgbClr val="1A1D21"/>
                </a:solidFill>
                <a:latin typeface="Calibri"/>
              </a:rPr>
              <a:t>Railway already hides the server. Fargate is the enterprise-grade equivalent, inside the company’s AWS account, VPC and security controls.</a:t>
            </a:r>
          </a:p>
          <a:p>
            <a:pPr>
              <a:spcBef>
                <a:spcPts val="0"/>
              </a:spcBef>
              <a:spcAft>
                <a:spcPts val="700"/>
              </a:spcAft>
            </a:pPr>
            <a:r>
              <a:rPr sz="1550" b="1">
                <a:solidFill>
                  <a:srgbClr val="ED1B2F"/>
                </a:solidFill>
                <a:latin typeface="Calibri"/>
              </a:rPr>
              <a:t>►  </a:t>
            </a:r>
            <a:r>
              <a:rPr sz="1550" b="0">
                <a:solidFill>
                  <a:srgbClr val="1A1D21"/>
                </a:solidFill>
                <a:latin typeface="Calibri"/>
              </a:rPr>
              <a:t>Vocabulary I will hear:</a:t>
            </a:r>
          </a:p>
          <a:p>
            <a:pPr lvl="1">
              <a:spcBef>
                <a:spcPts val="0"/>
              </a:spcBef>
              <a:spcAft>
                <a:spcPts val="700"/>
              </a:spcAft>
            </a:pPr>
            <a:r>
              <a:rPr sz="1450" b="0">
                <a:solidFill>
                  <a:srgbClr val="5B6470"/>
                </a:solidFill>
                <a:latin typeface="Calibri"/>
              </a:rPr>
              <a:t>–  Task = one running copy of my container.  Service = keeps N tasks alive.</a:t>
            </a:r>
          </a:p>
          <a:p>
            <a:pPr lvl="1">
              <a:spcBef>
                <a:spcPts val="0"/>
              </a:spcBef>
              <a:spcAft>
                <a:spcPts val="700"/>
              </a:spcAft>
            </a:pPr>
            <a:r>
              <a:rPr sz="1450" b="0">
                <a:solidFill>
                  <a:srgbClr val="5B6470"/>
                </a:solidFill>
                <a:latin typeface="Calibri"/>
              </a:rPr>
              <a:t>–  Task definition = the recipe (image, CPU, RAM, port, secrets).</a:t>
            </a:r>
          </a:p>
          <a:p>
            <a:pPr lvl="1">
              <a:spcBef>
                <a:spcPts val="0"/>
              </a:spcBef>
              <a:spcAft>
                <a:spcPts val="700"/>
              </a:spcAft>
            </a:pPr>
            <a:r>
              <a:rPr sz="1450" b="0">
                <a:solidFill>
                  <a:srgbClr val="5B6470"/>
                </a:solidFill>
                <a:latin typeface="Calibri"/>
              </a:rPr>
              <a:t>–  ALB = public front door (terminates HTTPS).  VPC = the private network.  ECR = AWS’s private Docker registry.</a:t>
            </a:r>
          </a:p>
          <a:p>
            <a:pPr>
              <a:spcBef>
                <a:spcPts val="0"/>
              </a:spcBef>
              <a:spcAft>
                <a:spcPts val="700"/>
              </a:spcAft>
            </a:pPr>
            <a:r>
              <a:rPr sz="1550" b="1">
                <a:solidFill>
                  <a:srgbClr val="ED1B2F"/>
                </a:solidFill>
                <a:latin typeface="Calibri"/>
              </a:rPr>
              <a:t>►  </a:t>
            </a:r>
            <a:r>
              <a:rPr b="1" sz="1550">
                <a:solidFill>
                  <a:srgbClr val="1A1D21"/>
                </a:solidFill>
                <a:latin typeface="Calibri"/>
              </a:rPr>
              <a:t>Why Fargate over a bare EC2 VM: </a:t>
            </a:r>
            <a:r>
              <a:rPr sz="1550">
                <a:solidFill>
                  <a:srgbClr val="1A1D21"/>
                </a:solidFill>
                <a:latin typeface="Calibri"/>
              </a:rPr>
              <a:t>a VM is easy to launch, but then I own the OS — patching, reboots, scaling, HA, TLS. Fargate hands all that to AWS.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274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ED1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1064240" cy="274320"/>
          </a:xfrm>
          <a:prstGeom prst="rect">
            <a:avLst/>
          </a:prstGeom>
          <a:noFill/>
        </p:spPr>
        <p:txBody>
          <a:bodyPr wrap="square" anchor="t" lIns="25400" rIns="25400" tIns="12700" bIns="12700">
            <a:spAutoFit/>
          </a:bodyPr>
          <a:lstStyle/>
          <a:p>
            <a:pPr algn="l"/>
            <a:r>
              <a:rPr sz="1200" b="1" i="0">
                <a:solidFill>
                  <a:srgbClr val="CFDAE2"/>
                </a:solidFill>
                <a:latin typeface="Calibri"/>
              </a:rPr>
              <a:t>THE QUESTION RADOSLAW ASKED</a:t>
            </a:r>
          </a:p>
        </p:txBody>
      </p:sp>
      <p:sp>
        <p:nvSpPr>
          <p:cNvPr id="5" name="TextBox 4"/>
          <p:cNvSpPr txBox="1"/>
          <p:nvPr/>
        </p:nvSpPr>
        <p:spPr>
          <a:xfrm>
            <a:off x="548640" y="402336"/>
            <a:ext cx="11064240" cy="548640"/>
          </a:xfrm>
          <a:prstGeom prst="rect">
            <a:avLst/>
          </a:prstGeom>
          <a:noFill/>
        </p:spPr>
        <p:txBody>
          <a:bodyPr wrap="square" anchor="t" lIns="25400" rIns="25400" tIns="12700" bIns="12700">
            <a:spAutoFit/>
          </a:bodyPr>
          <a:lstStyle/>
          <a:p>
            <a:pPr algn="l"/>
            <a:r>
              <a:rPr sz="2600" b="1" i="0">
                <a:solidFill>
                  <a:srgbClr val="FFFFFF"/>
                </a:solidFill>
                <a:latin typeface="Calibri"/>
              </a:rPr>
              <a:t>“Do you have a sketch of how it would look on AWS?”</a:t>
            </a:r>
          </a:p>
        </p:txBody>
      </p:sp>
      <p:sp>
        <p:nvSpPr>
          <p:cNvPr id="6" name="TextBox 5"/>
          <p:cNvSpPr txBox="1"/>
          <p:nvPr/>
        </p:nvSpPr>
        <p:spPr>
          <a:xfrm>
            <a:off x="640080" y="1325880"/>
            <a:ext cx="10972800" cy="5212080"/>
          </a:xfrm>
          <a:prstGeom prst="rect">
            <a:avLst/>
          </a:prstGeom>
          <a:noFill/>
        </p:spPr>
        <p:txBody>
          <a:bodyPr wrap="square">
            <a:spAutoFit/>
          </a:bodyPr>
          <a:lstStyle/>
          <a:p>
            <a:pPr>
              <a:spcBef>
                <a:spcPts val="0"/>
              </a:spcBef>
              <a:spcAft>
                <a:spcPts val="900"/>
              </a:spcAft>
            </a:pPr>
            <a:r>
              <a:rPr sz="1600" b="1">
                <a:solidFill>
                  <a:srgbClr val="ED1B2F"/>
                </a:solidFill>
                <a:latin typeface="Calibri"/>
              </a:rPr>
              <a:t>►  </a:t>
            </a:r>
            <a:r>
              <a:rPr sz="1600" b="0">
                <a:solidFill>
                  <a:srgbClr val="1A1D21"/>
                </a:solidFill>
                <a:latin typeface="Calibri"/>
              </a:rPr>
              <a:t>In cloud language, “sketch” = a target-state architecture diagram + the requirements list the implementer needs.</a:t>
            </a:r>
          </a:p>
          <a:p>
            <a:pPr>
              <a:spcBef>
                <a:spcPts val="0"/>
              </a:spcBef>
              <a:spcAft>
                <a:spcPts val="900"/>
              </a:spcAft>
            </a:pPr>
            <a:r>
              <a:rPr sz="1600" b="1">
                <a:solidFill>
                  <a:srgbClr val="ED1B2F"/>
                </a:solidFill>
                <a:latin typeface="Calibri"/>
              </a:rPr>
              <a:t>►  </a:t>
            </a:r>
            <a:r>
              <a:rPr sz="1600" b="0">
                <a:solidFill>
                  <a:srgbClr val="1A1D21"/>
                </a:solidFill>
                <a:latin typeface="Calibri"/>
              </a:rPr>
              <a:t>It is NOT a request for a ready-to-deploy app. The app is already built and live (Phase 1 on Railway).</a:t>
            </a:r>
          </a:p>
          <a:p>
            <a:pPr>
              <a:spcBef>
                <a:spcPts val="0"/>
              </a:spcBef>
              <a:spcAft>
                <a:spcPts val="900"/>
              </a:spcAft>
            </a:pPr>
            <a:r>
              <a:rPr sz="1600" b="1">
                <a:solidFill>
                  <a:srgbClr val="ED1B2F"/>
                </a:solidFill>
                <a:latin typeface="Calibri"/>
              </a:rPr>
              <a:t>►  </a:t>
            </a:r>
            <a:r>
              <a:rPr b="1" sz="1600">
                <a:solidFill>
                  <a:srgbClr val="1A1D21"/>
                </a:solidFill>
                <a:latin typeface="Calibri"/>
              </a:rPr>
              <a:t>So my answer is: </a:t>
            </a:r>
            <a:r>
              <a:rPr sz="1600">
                <a:solidFill>
                  <a:srgbClr val="1A1D21"/>
                </a:solidFill>
                <a:latin typeface="Calibri"/>
              </a:rPr>
              <a:t>YES — I have the sketch (it’s the Fargate deck I’m giving them).</a:t>
            </a:r>
          </a:p>
          <a:p>
            <a:pPr>
              <a:spcBef>
                <a:spcPts val="0"/>
              </a:spcBef>
              <a:spcAft>
                <a:spcPts val="900"/>
              </a:spcAft>
            </a:pPr>
            <a:r>
              <a:rPr sz="1600" b="1">
                <a:solidFill>
                  <a:srgbClr val="ED1B2F"/>
                </a:solidFill>
                <a:latin typeface="Calibri"/>
              </a:rPr>
              <a:t>►  </a:t>
            </a:r>
            <a:r>
              <a:rPr sz="1600" b="0">
                <a:solidFill>
                  <a:srgbClr val="1A1D21"/>
                </a:solidFill>
                <a:latin typeface="Calibri"/>
              </a:rPr>
              <a:t>What I bring is the “container contract” so True Soft can build the landing zone:</a:t>
            </a:r>
          </a:p>
          <a:p>
            <a:pPr lvl="1">
              <a:spcBef>
                <a:spcPts val="0"/>
              </a:spcBef>
              <a:spcAft>
                <a:spcPts val="900"/>
              </a:spcAft>
            </a:pPr>
            <a:r>
              <a:rPr sz="1500" b="0">
                <a:solidFill>
                  <a:srgbClr val="5B6470"/>
                </a:solidFill>
                <a:latin typeface="Calibri"/>
              </a:rPr>
              <a:t>–  runtime, port, health check, CPU/RAM, secrets, outbound endpoints, region, scaling.</a:t>
            </a:r>
          </a:p>
          <a:p>
            <a:pPr>
              <a:spcBef>
                <a:spcPts val="0"/>
              </a:spcBef>
              <a:spcAft>
                <a:spcPts val="900"/>
              </a:spcAft>
            </a:pPr>
            <a:r>
              <a:rPr sz="1600" b="1">
                <a:solidFill>
                  <a:srgbClr val="ED1B2F"/>
                </a:solidFill>
                <a:latin typeface="Calibri"/>
              </a:rPr>
              <a:t>►  </a:t>
            </a:r>
            <a:r>
              <a:rPr b="1" sz="1600">
                <a:solidFill>
                  <a:srgbClr val="1A1D21"/>
                </a:solidFill>
                <a:latin typeface="Calibri"/>
              </a:rPr>
              <a:t>What I do NOT need to bring: </a:t>
            </a:r>
            <a:r>
              <a:rPr sz="1600">
                <a:solidFill>
                  <a:srgbClr val="1A1D21"/>
                </a:solidFill>
                <a:latin typeface="Calibri"/>
              </a:rPr>
              <a:t>a deployed app, infrastructure code, or AWS credentials.</a:t>
            </a:r>
          </a:p>
        </p:txBody>
      </p:sp>
      <p:sp>
        <p:nvSpPr>
          <p:cNvPr id="7" name="Rounded Rectangle 6"/>
          <p:cNvSpPr/>
          <p:nvPr/>
        </p:nvSpPr>
        <p:spPr>
          <a:xfrm>
            <a:off x="548640" y="6263640"/>
            <a:ext cx="11064240" cy="457200"/>
          </a:xfrm>
          <a:prstGeom prst="roundRect">
            <a:avLst/>
          </a:prstGeom>
          <a:solidFill>
            <a:srgbClr val="F5F6F8"/>
          </a:solidFill>
          <a:ln w="12700">
            <a:solidFill>
              <a:srgbClr val="E6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263640"/>
            <a:ext cx="10789920" cy="457200"/>
          </a:xfrm>
          <a:prstGeom prst="rect">
            <a:avLst/>
          </a:prstGeom>
          <a:noFill/>
        </p:spPr>
        <p:txBody>
          <a:bodyPr wrap="square" anchor="ctr">
            <a:spAutoFit/>
          </a:bodyPr>
          <a:lstStyle/>
          <a:p>
            <a:r>
              <a:rPr sz="1100" b="1">
                <a:solidFill>
                  <a:srgbClr val="ED1B2F"/>
                </a:solidFill>
              </a:rPr>
              <a:t>●  </a:t>
            </a:r>
            <a:r>
              <a:rPr sz="1150" i="1">
                <a:solidFill>
                  <a:srgbClr val="274E64"/>
                </a:solidFill>
                <a:latin typeface="Calibri"/>
              </a:rPr>
              <a:t>If anyone asks ‘is the app finished?’ — yes, it runs in production today. AWS is about WHERE it is hosted and HOW it is secured, not whether it works.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274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ED1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1064240" cy="274320"/>
          </a:xfrm>
          <a:prstGeom prst="rect">
            <a:avLst/>
          </a:prstGeom>
          <a:noFill/>
        </p:spPr>
        <p:txBody>
          <a:bodyPr wrap="square" anchor="t" lIns="25400" rIns="25400" tIns="12700" bIns="12700">
            <a:spAutoFit/>
          </a:bodyPr>
          <a:lstStyle/>
          <a:p>
            <a:pPr algn="l"/>
            <a:r>
              <a:rPr sz="1200" b="1" i="0">
                <a:solidFill>
                  <a:srgbClr val="CFDAE2"/>
                </a:solidFill>
                <a:latin typeface="Calibri"/>
              </a:rPr>
              <a:t>CHEAT-SHEET</a:t>
            </a:r>
          </a:p>
        </p:txBody>
      </p:sp>
      <p:sp>
        <p:nvSpPr>
          <p:cNvPr id="5" name="TextBox 4"/>
          <p:cNvSpPr txBox="1"/>
          <p:nvPr/>
        </p:nvSpPr>
        <p:spPr>
          <a:xfrm>
            <a:off x="548640" y="402336"/>
            <a:ext cx="11064240" cy="548640"/>
          </a:xfrm>
          <a:prstGeom prst="rect">
            <a:avLst/>
          </a:prstGeom>
          <a:noFill/>
        </p:spPr>
        <p:txBody>
          <a:bodyPr wrap="square" anchor="t" lIns="25400" rIns="25400" tIns="12700" bIns="12700">
            <a:spAutoFit/>
          </a:bodyPr>
          <a:lstStyle/>
          <a:p>
            <a:pPr algn="l"/>
            <a:r>
              <a:rPr sz="2600" b="1" i="0">
                <a:solidFill>
                  <a:srgbClr val="FFFFFF"/>
                </a:solidFill>
                <a:latin typeface="Calibri"/>
              </a:rPr>
              <a:t>The “container contract” — answers they will ask me for</a:t>
            </a:r>
          </a:p>
        </p:txBody>
      </p:sp>
      <p:graphicFrame>
        <p:nvGraphicFramePr>
          <p:cNvPr id="6" name="Table 5"/>
          <p:cNvGraphicFramePr>
            <a:graphicFrameLocks noGrp="1"/>
          </p:cNvGraphicFramePr>
          <p:nvPr/>
        </p:nvGraphicFramePr>
        <p:xfrm>
          <a:off x="548640" y="1234440"/>
          <a:ext cx="11064240" cy="4023360"/>
        </p:xfrm>
        <a:graphic>
          <a:graphicData uri="http://schemas.openxmlformats.org/drawingml/2006/table">
            <a:tbl>
              <a:tblPr firstRow="1" bandRow="1">
                <a:tableStyleId>{5C22544A-7EE6-4342-B048-85BDC9FD1C3A}</a:tableStyleId>
              </a:tblPr>
              <a:tblGrid>
                <a:gridCol w="2743200"/>
                <a:gridCol w="8321040"/>
              </a:tblGrid>
              <a:tr h="365760">
                <a:tc>
                  <a:txBody>
                    <a:bodyPr wrap="square"/>
                    <a:lstStyle/>
                    <a:p>
                      <a:r>
                        <a:rPr b="1" sz="1250">
                          <a:solidFill>
                            <a:srgbClr val="FFFFFF"/>
                          </a:solidFill>
                          <a:latin typeface="Calibri"/>
                        </a:rPr>
                        <a:t>They ask</a:t>
                      </a:r>
                    </a:p>
                  </a:txBody>
                  <a:tcPr marL="76200" marR="76200" marT="38100" marB="38100" anchor="ctr">
                    <a:solidFill>
                      <a:srgbClr val="274E64"/>
                    </a:solidFill>
                  </a:tcPr>
                </a:tc>
                <a:tc>
                  <a:txBody>
                    <a:bodyPr wrap="square"/>
                    <a:lstStyle/>
                    <a:p>
                      <a:r>
                        <a:rPr b="1" sz="1250">
                          <a:solidFill>
                            <a:srgbClr val="FFFFFF"/>
                          </a:solidFill>
                          <a:latin typeface="Calibri"/>
                        </a:rPr>
                        <a:t>My answer</a:t>
                      </a:r>
                    </a:p>
                  </a:txBody>
                  <a:tcPr marL="76200" marR="76200" marT="38100" marB="38100" anchor="ctr">
                    <a:solidFill>
                      <a:srgbClr val="274E64"/>
                    </a:solidFill>
                  </a:tcPr>
                </a:tc>
              </a:tr>
              <a:tr h="365760">
                <a:tc>
                  <a:txBody>
                    <a:bodyPr wrap="square"/>
                    <a:lstStyle/>
                    <a:p>
                      <a:r>
                        <a:rPr sz="1200" b="1">
                          <a:solidFill>
                            <a:srgbClr val="274E64"/>
                          </a:solidFill>
                          <a:latin typeface="Calibri"/>
                        </a:rPr>
                        <a:t>Runtime</a:t>
                      </a:r>
                    </a:p>
                  </a:txBody>
                  <a:tcPr marL="76200" marR="76200" marT="38100" marB="38100" anchor="ctr">
                    <a:solidFill>
                      <a:srgbClr val="FFFFFF"/>
                    </a:solidFill>
                  </a:tcPr>
                </a:tc>
                <a:tc>
                  <a:txBody>
                    <a:bodyPr wrap="square"/>
                    <a:lstStyle/>
                    <a:p>
                      <a:r>
                        <a:rPr sz="1200">
                          <a:solidFill>
                            <a:srgbClr val="1A1D21"/>
                          </a:solidFill>
                          <a:latin typeface="Calibri"/>
                        </a:rPr>
                        <a:t>Node.js 20 LTS · Next.js 15 (App Router) + React 19</a:t>
                      </a:r>
                    </a:p>
                  </a:txBody>
                  <a:tcPr marL="76200" marR="76200" marT="38100" marB="38100" anchor="ctr">
                    <a:solidFill>
                      <a:srgbClr val="FFFFFF"/>
                    </a:solidFill>
                  </a:tcPr>
                </a:tc>
              </a:tr>
              <a:tr h="365760">
                <a:tc>
                  <a:txBody>
                    <a:bodyPr wrap="square"/>
                    <a:lstStyle/>
                    <a:p>
                      <a:r>
                        <a:rPr sz="1200" b="1">
                          <a:solidFill>
                            <a:srgbClr val="274E64"/>
                          </a:solidFill>
                          <a:latin typeface="Calibri"/>
                        </a:rPr>
                        <a:t>How is it built?</a:t>
                      </a:r>
                    </a:p>
                  </a:txBody>
                  <a:tcPr marL="76200" marR="76200" marT="38100" marB="38100" anchor="ctr">
                    <a:solidFill>
                      <a:srgbClr val="F5F6F8"/>
                    </a:solidFill>
                  </a:tcPr>
                </a:tc>
                <a:tc>
                  <a:txBody>
                    <a:bodyPr wrap="square"/>
                    <a:lstStyle/>
                    <a:p>
                      <a:r>
                        <a:rPr sz="1200">
                          <a:solidFill>
                            <a:srgbClr val="1A1D21"/>
                          </a:solidFill>
                          <a:latin typeface="Calibri"/>
                        </a:rPr>
                        <a:t>Today Nixpacks (Railway). For ECS: a Dockerfile → image in ECR</a:t>
                      </a:r>
                    </a:p>
                  </a:txBody>
                  <a:tcPr marL="76200" marR="76200" marT="38100" marB="38100" anchor="ctr">
                    <a:solidFill>
                      <a:srgbClr val="F5F6F8"/>
                    </a:solidFill>
                  </a:tcPr>
                </a:tc>
              </a:tr>
              <a:tr h="365760">
                <a:tc>
                  <a:txBody>
                    <a:bodyPr wrap="square"/>
                    <a:lstStyle/>
                    <a:p>
                      <a:r>
                        <a:rPr sz="1200" b="1">
                          <a:solidFill>
                            <a:srgbClr val="274E64"/>
                          </a:solidFill>
                          <a:latin typeface="Calibri"/>
                        </a:rPr>
                        <a:t>Inbound port</a:t>
                      </a:r>
                    </a:p>
                  </a:txBody>
                  <a:tcPr marL="76200" marR="76200" marT="38100" marB="38100" anchor="ctr">
                    <a:solidFill>
                      <a:srgbClr val="FFFFFF"/>
                    </a:solidFill>
                  </a:tcPr>
                </a:tc>
                <a:tc>
                  <a:txBody>
                    <a:bodyPr wrap="square"/>
                    <a:lstStyle/>
                    <a:p>
                      <a:r>
                        <a:rPr sz="1200">
                          <a:solidFill>
                            <a:srgbClr val="1A1D21"/>
                          </a:solidFill>
                          <a:latin typeface="Calibri"/>
                        </a:rPr>
                        <a:t>HTTP 3000 (configurable via PORT env var)</a:t>
                      </a:r>
                    </a:p>
                  </a:txBody>
                  <a:tcPr marL="76200" marR="76200" marT="38100" marB="38100" anchor="ctr">
                    <a:solidFill>
                      <a:srgbClr val="FFFFFF"/>
                    </a:solidFill>
                  </a:tcPr>
                </a:tc>
              </a:tr>
              <a:tr h="365760">
                <a:tc>
                  <a:txBody>
                    <a:bodyPr wrap="square"/>
                    <a:lstStyle/>
                    <a:p>
                      <a:r>
                        <a:rPr sz="1200" b="1">
                          <a:solidFill>
                            <a:srgbClr val="274E64"/>
                          </a:solidFill>
                          <a:latin typeface="Calibri"/>
                        </a:rPr>
                        <a:t>Stateless?</a:t>
                      </a:r>
                    </a:p>
                  </a:txBody>
                  <a:tcPr marL="76200" marR="76200" marT="38100" marB="38100" anchor="ctr">
                    <a:solidFill>
                      <a:srgbClr val="F5F6F8"/>
                    </a:solidFill>
                  </a:tcPr>
                </a:tc>
                <a:tc>
                  <a:txBody>
                    <a:bodyPr wrap="square"/>
                    <a:lstStyle/>
                    <a:p>
                      <a:r>
                        <a:rPr sz="1200">
                          <a:solidFill>
                            <a:srgbClr val="1A1D21"/>
                          </a:solidFill>
                          <a:latin typeface="Calibri"/>
                        </a:rPr>
                        <a:t>Yes — all state in Postgres; tasks can be killed/replaced</a:t>
                      </a:r>
                    </a:p>
                  </a:txBody>
                  <a:tcPr marL="76200" marR="76200" marT="38100" marB="38100" anchor="ctr">
                    <a:solidFill>
                      <a:srgbClr val="F5F6F8"/>
                    </a:solidFill>
                  </a:tcPr>
                </a:tc>
              </a:tr>
              <a:tr h="365760">
                <a:tc>
                  <a:txBody>
                    <a:bodyPr wrap="square"/>
                    <a:lstStyle/>
                    <a:p>
                      <a:r>
                        <a:rPr sz="1200" b="1">
                          <a:solidFill>
                            <a:srgbClr val="274E64"/>
                          </a:solidFill>
                          <a:latin typeface="Calibri"/>
                        </a:rPr>
                        <a:t>Database</a:t>
                      </a:r>
                    </a:p>
                  </a:txBody>
                  <a:tcPr marL="76200" marR="76200" marT="38100" marB="38100" anchor="ctr">
                    <a:solidFill>
                      <a:srgbClr val="FFFFFF"/>
                    </a:solidFill>
                  </a:tcPr>
                </a:tc>
                <a:tc>
                  <a:txBody>
                    <a:bodyPr wrap="square"/>
                    <a:lstStyle/>
                    <a:p>
                      <a:r>
                        <a:rPr sz="1200">
                          <a:solidFill>
                            <a:srgbClr val="1A1D21"/>
                          </a:solidFill>
                          <a:latin typeface="Calibri"/>
                        </a:rPr>
                        <a:t>PostgreSQL → RDS (db.t4g.micro is plenty for Phase 1)</a:t>
                      </a:r>
                    </a:p>
                  </a:txBody>
                  <a:tcPr marL="76200" marR="76200" marT="38100" marB="38100" anchor="ctr">
                    <a:solidFill>
                      <a:srgbClr val="FFFFFF"/>
                    </a:solidFill>
                  </a:tcPr>
                </a:tc>
              </a:tr>
              <a:tr h="365760">
                <a:tc>
                  <a:txBody>
                    <a:bodyPr wrap="square"/>
                    <a:lstStyle/>
                    <a:p>
                      <a:r>
                        <a:rPr sz="1200" b="1">
                          <a:solidFill>
                            <a:srgbClr val="274E64"/>
                          </a:solidFill>
                          <a:latin typeface="Calibri"/>
                        </a:rPr>
                        <a:t>Health check</a:t>
                      </a:r>
                    </a:p>
                  </a:txBody>
                  <a:tcPr marL="76200" marR="76200" marT="38100" marB="38100" anchor="ctr">
                    <a:solidFill>
                      <a:srgbClr val="F5F6F8"/>
                    </a:solidFill>
                  </a:tcPr>
                </a:tc>
                <a:tc>
                  <a:txBody>
                    <a:bodyPr wrap="square"/>
                    <a:lstStyle/>
                    <a:p>
                      <a:r>
                        <a:rPr sz="1200">
                          <a:solidFill>
                            <a:srgbClr val="1A1D21"/>
                          </a:solidFill>
                          <a:latin typeface="Calibri"/>
                        </a:rPr>
                        <a:t>Add /api/health returning 200 — don’t rely on /</a:t>
                      </a:r>
                    </a:p>
                  </a:txBody>
                  <a:tcPr marL="76200" marR="76200" marT="38100" marB="38100" anchor="ctr">
                    <a:solidFill>
                      <a:srgbClr val="F5F6F8"/>
                    </a:solidFill>
                  </a:tcPr>
                </a:tc>
              </a:tr>
              <a:tr h="365760">
                <a:tc>
                  <a:txBody>
                    <a:bodyPr wrap="square"/>
                    <a:lstStyle/>
                    <a:p>
                      <a:r>
                        <a:rPr sz="1200" b="1">
                          <a:solidFill>
                            <a:srgbClr val="274E64"/>
                          </a:solidFill>
                          <a:latin typeface="Calibri"/>
                        </a:rPr>
                        <a:t>CPU / RAM</a:t>
                      </a:r>
                    </a:p>
                  </a:txBody>
                  <a:tcPr marL="76200" marR="76200" marT="38100" marB="38100" anchor="ctr">
                    <a:solidFill>
                      <a:srgbClr val="FFFFFF"/>
                    </a:solidFill>
                  </a:tcPr>
                </a:tc>
                <a:tc>
                  <a:txBody>
                    <a:bodyPr wrap="square"/>
                    <a:lstStyle/>
                    <a:p>
                      <a:r>
                        <a:rPr sz="1200">
                          <a:solidFill>
                            <a:srgbClr val="1A1D21"/>
                          </a:solidFill>
                          <a:latin typeface="Calibri"/>
                        </a:rPr>
                        <a:t>Start 0.5 vCPU / 1 GB; 1 task fine, 2 for HA</a:t>
                      </a:r>
                    </a:p>
                  </a:txBody>
                  <a:tcPr marL="76200" marR="76200" marT="38100" marB="38100" anchor="ctr">
                    <a:solidFill>
                      <a:srgbClr val="FFFFFF"/>
                    </a:solidFill>
                  </a:tcPr>
                </a:tc>
              </a:tr>
              <a:tr h="365760">
                <a:tc>
                  <a:txBody>
                    <a:bodyPr wrap="square"/>
                    <a:lstStyle/>
                    <a:p>
                      <a:r>
                        <a:rPr sz="1200" b="1">
                          <a:solidFill>
                            <a:srgbClr val="274E64"/>
                          </a:solidFill>
                          <a:latin typeface="Calibri"/>
                        </a:rPr>
                        <a:t>Secrets</a:t>
                      </a:r>
                    </a:p>
                  </a:txBody>
                  <a:tcPr marL="76200" marR="76200" marT="38100" marB="38100" anchor="ctr">
                    <a:solidFill>
                      <a:srgbClr val="F5F6F8"/>
                    </a:solidFill>
                  </a:tcPr>
                </a:tc>
                <a:tc>
                  <a:txBody>
                    <a:bodyPr wrap="square"/>
                    <a:lstStyle/>
                    <a:p>
                      <a:r>
                        <a:rPr sz="1200">
                          <a:solidFill>
                            <a:srgbClr val="1A1D21"/>
                          </a:solidFill>
                          <a:latin typeface="Calibri"/>
                        </a:rPr>
                        <a:t>AUTH_SECRET, AUTH_MASTER_PASSWORD, ANTHROPIC_API_KEY, GEMINI_API_KEY, DATABASE_URL → Secrets Manager</a:t>
                      </a:r>
                    </a:p>
                  </a:txBody>
                  <a:tcPr marL="76200" marR="76200" marT="38100" marB="38100" anchor="ctr">
                    <a:solidFill>
                      <a:srgbClr val="F5F6F8"/>
                    </a:solidFill>
                  </a:tcPr>
                </a:tc>
              </a:tr>
              <a:tr h="365760">
                <a:tc>
                  <a:txBody>
                    <a:bodyPr wrap="square"/>
                    <a:lstStyle/>
                    <a:p>
                      <a:r>
                        <a:rPr sz="1200" b="1">
                          <a:solidFill>
                            <a:srgbClr val="274E64"/>
                          </a:solidFill>
                          <a:latin typeface="Calibri"/>
                        </a:rPr>
                        <a:t>Outbound</a:t>
                      </a:r>
                    </a:p>
                  </a:txBody>
                  <a:tcPr marL="76200" marR="76200" marT="38100" marB="38100" anchor="ctr">
                    <a:solidFill>
                      <a:srgbClr val="FFFFFF"/>
                    </a:solidFill>
                  </a:tcPr>
                </a:tc>
                <a:tc>
                  <a:txBody>
                    <a:bodyPr wrap="square"/>
                    <a:lstStyle/>
                    <a:p>
                      <a:r>
                        <a:rPr sz="1200">
                          <a:solidFill>
                            <a:srgbClr val="1A1D21"/>
                          </a:solidFill>
                          <a:latin typeface="Calibri"/>
                        </a:rPr>
                        <a:t>api.anthropic.com:443 · generativelanguage.googleapis.com:443 · DNS:53</a:t>
                      </a:r>
                    </a:p>
                  </a:txBody>
                  <a:tcPr marL="76200" marR="76200" marT="38100" marB="38100" anchor="ctr">
                    <a:solidFill>
                      <a:srgbClr val="FFFFFF"/>
                    </a:solidFill>
                  </a:tcPr>
                </a:tc>
              </a:tr>
              <a:tr h="365760">
                <a:tc>
                  <a:txBody>
                    <a:bodyPr wrap="square"/>
                    <a:lstStyle/>
                    <a:p>
                      <a:r>
                        <a:rPr sz="1200" b="1">
                          <a:solidFill>
                            <a:srgbClr val="274E64"/>
                          </a:solidFill>
                          <a:latin typeface="Calibri"/>
                        </a:rPr>
                        <a:t>Region</a:t>
                      </a:r>
                    </a:p>
                  </a:txBody>
                  <a:tcPr marL="76200" marR="76200" marT="38100" marB="38100" anchor="ctr">
                    <a:solidFill>
                      <a:srgbClr val="F5F6F8"/>
                    </a:solidFill>
                  </a:tcPr>
                </a:tc>
                <a:tc>
                  <a:txBody>
                    <a:bodyPr wrap="square"/>
                    <a:lstStyle/>
                    <a:p>
                      <a:r>
                        <a:rPr sz="1200">
                          <a:solidFill>
                            <a:srgbClr val="1A1D21"/>
                          </a:solidFill>
                          <a:latin typeface="Calibri"/>
                        </a:rPr>
                        <a:t>eu-central-1 (Frankfurt) — EU data residency</a:t>
                      </a:r>
                    </a:p>
                  </a:txBody>
                  <a:tcPr marL="76200" marR="76200" marT="38100" marB="38100" anchor="ctr">
                    <a:solidFill>
                      <a:srgbClr val="F5F6F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274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ED1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1064240" cy="274320"/>
          </a:xfrm>
          <a:prstGeom prst="rect">
            <a:avLst/>
          </a:prstGeom>
          <a:noFill/>
        </p:spPr>
        <p:txBody>
          <a:bodyPr wrap="square" anchor="t" lIns="25400" rIns="25400" tIns="12700" bIns="12700">
            <a:spAutoFit/>
          </a:bodyPr>
          <a:lstStyle/>
          <a:p>
            <a:pPr algn="l"/>
            <a:r>
              <a:rPr sz="1200" b="1" i="0">
                <a:solidFill>
                  <a:srgbClr val="CFDAE2"/>
                </a:solidFill>
                <a:latin typeface="Calibri"/>
              </a:rPr>
              <a:t>NETWORKING</a:t>
            </a:r>
          </a:p>
        </p:txBody>
      </p:sp>
      <p:sp>
        <p:nvSpPr>
          <p:cNvPr id="5" name="TextBox 4"/>
          <p:cNvSpPr txBox="1"/>
          <p:nvPr/>
        </p:nvSpPr>
        <p:spPr>
          <a:xfrm>
            <a:off x="548640" y="402336"/>
            <a:ext cx="11064240" cy="548640"/>
          </a:xfrm>
          <a:prstGeom prst="rect">
            <a:avLst/>
          </a:prstGeom>
          <a:noFill/>
        </p:spPr>
        <p:txBody>
          <a:bodyPr wrap="square" anchor="t" lIns="25400" rIns="25400" tIns="12700" bIns="12700">
            <a:spAutoFit/>
          </a:bodyPr>
          <a:lstStyle/>
          <a:p>
            <a:pPr algn="l"/>
            <a:r>
              <a:rPr sz="2600" b="1" i="0">
                <a:solidFill>
                  <a:srgbClr val="FFFFFF"/>
                </a:solidFill>
                <a:latin typeface="Calibri"/>
              </a:rPr>
              <a:t>Ports — the full matrix (what ‘port 903’ is really about)</a:t>
            </a:r>
          </a:p>
        </p:txBody>
      </p:sp>
      <p:sp>
        <p:nvSpPr>
          <p:cNvPr id="6" name="TextBox 5"/>
          <p:cNvSpPr txBox="1"/>
          <p:nvPr/>
        </p:nvSpPr>
        <p:spPr>
          <a:xfrm>
            <a:off x="640080" y="1325880"/>
            <a:ext cx="10972800" cy="5212080"/>
          </a:xfrm>
          <a:prstGeom prst="rect">
            <a:avLst/>
          </a:prstGeom>
          <a:noFill/>
        </p:spPr>
        <p:txBody>
          <a:bodyPr wrap="square">
            <a:spAutoFit/>
          </a:bodyPr>
          <a:lstStyle/>
          <a:p>
            <a:pPr>
              <a:spcBef>
                <a:spcPts val="0"/>
              </a:spcBef>
              <a:spcAft>
                <a:spcPts val="800"/>
              </a:spcAft>
            </a:pPr>
            <a:r>
              <a:rPr sz="1500" b="1">
                <a:solidFill>
                  <a:srgbClr val="ED1B2F"/>
                </a:solidFill>
                <a:latin typeface="Calibri"/>
              </a:rPr>
              <a:t>►  </a:t>
            </a:r>
            <a:r>
              <a:rPr b="1" sz="1500">
                <a:solidFill>
                  <a:srgbClr val="1A1D21"/>
                </a:solidFill>
                <a:latin typeface="Calibri"/>
              </a:rPr>
              <a:t>INBOUND (into my container): </a:t>
            </a:r>
            <a:r>
              <a:rPr sz="1500">
                <a:solidFill>
                  <a:srgbClr val="1A1D21"/>
                </a:solidFill>
                <a:latin typeface="Calibri"/>
              </a:rPr>
              <a:t>exactly ONE port.</a:t>
            </a:r>
          </a:p>
          <a:p>
            <a:pPr lvl="1">
              <a:spcBef>
                <a:spcPts val="0"/>
              </a:spcBef>
              <a:spcAft>
                <a:spcPts val="800"/>
              </a:spcAft>
            </a:pPr>
            <a:r>
              <a:rPr sz="1400" b="0">
                <a:solidFill>
                  <a:srgbClr val="5B6470"/>
                </a:solidFill>
                <a:latin typeface="Calibri"/>
              </a:rPr>
              <a:t>–  App binds HTTP 3000.  ALB listens on public 443, terminates TLS, forwards to container:3000.</a:t>
            </a:r>
          </a:p>
          <a:p>
            <a:pPr>
              <a:spcBef>
                <a:spcPts val="0"/>
              </a:spcBef>
              <a:spcAft>
                <a:spcPts val="800"/>
              </a:spcAft>
            </a:pPr>
            <a:r>
              <a:rPr sz="1500" b="1">
                <a:solidFill>
                  <a:srgbClr val="ED1B2F"/>
                </a:solidFill>
                <a:latin typeface="Calibri"/>
              </a:rPr>
              <a:t>►  </a:t>
            </a:r>
            <a:r>
              <a:rPr b="1" sz="1500">
                <a:solidFill>
                  <a:srgbClr val="1A1D21"/>
                </a:solidFill>
                <a:latin typeface="Calibri"/>
              </a:rPr>
              <a:t>OUTBOUND (from my container): </a:t>
            </a:r>
            <a:r>
              <a:rPr sz="1500">
                <a:solidFill>
                  <a:srgbClr val="1A1D21"/>
                </a:solidFill>
                <a:latin typeface="Calibri"/>
              </a:rPr>
              <a:t>HTTPS only.</a:t>
            </a:r>
          </a:p>
          <a:p>
            <a:pPr lvl="1">
              <a:spcBef>
                <a:spcPts val="0"/>
              </a:spcBef>
              <a:spcAft>
                <a:spcPts val="800"/>
              </a:spcAft>
            </a:pPr>
            <a:r>
              <a:rPr sz="1400" b="0">
                <a:solidFill>
                  <a:srgbClr val="5B6470"/>
                </a:solidFill>
                <a:latin typeface="Calibri"/>
              </a:rPr>
              <a:t>–  Claude → api.anthropic.com : 443.   Gemini → generativelanguage.googleapis.com : 443.   DNS : 53.   RDS : 5432 (in-VPC).</a:t>
            </a:r>
          </a:p>
          <a:p>
            <a:pPr>
              <a:spcBef>
                <a:spcPts val="0"/>
              </a:spcBef>
              <a:spcAft>
                <a:spcPts val="800"/>
              </a:spcAft>
            </a:pPr>
            <a:r>
              <a:rPr sz="1500" b="1">
                <a:solidFill>
                  <a:srgbClr val="ED1B2F"/>
                </a:solidFill>
                <a:latin typeface="Calibri"/>
              </a:rPr>
              <a:t>►  </a:t>
            </a:r>
            <a:r>
              <a:rPr b="1" sz="1500">
                <a:solidFill>
                  <a:srgbClr val="C77700"/>
                </a:solidFill>
                <a:latin typeface="Calibri"/>
              </a:rPr>
              <a:t>“Port 903”: </a:t>
            </a:r>
            <a:r>
              <a:rPr sz="1500">
                <a:solidFill>
                  <a:srgbClr val="C77700"/>
                </a:solidFill>
                <a:latin typeface="Calibri"/>
              </a:rPr>
              <a:t>there is no standard Claude port 903 — Claude is plain HTTPS on 443. Most likely:</a:t>
            </a:r>
          </a:p>
          <a:p>
            <a:pPr lvl="1">
              <a:spcBef>
                <a:spcPts val="0"/>
              </a:spcBef>
              <a:spcAft>
                <a:spcPts val="800"/>
              </a:spcAft>
            </a:pPr>
            <a:r>
              <a:rPr sz="1400" b="0">
                <a:solidFill>
                  <a:srgbClr val="5B6470"/>
                </a:solidFill>
                <a:latin typeface="Calibri"/>
              </a:rPr>
              <a:t>–  (1) ‘443’ mis-heard as ‘903’ on the call;  (2) a corporate egress-proxy port the network forces outbound through;  (3) an internal True Soft endpoint.</a:t>
            </a:r>
          </a:p>
          <a:p>
            <a:pPr>
              <a:spcBef>
                <a:spcPts val="0"/>
              </a:spcBef>
              <a:spcAft>
                <a:spcPts val="800"/>
              </a:spcAft>
            </a:pPr>
            <a:r>
              <a:rPr sz="1500" b="1">
                <a:solidFill>
                  <a:srgbClr val="ED1B2F"/>
                </a:solidFill>
                <a:latin typeface="Calibri"/>
              </a:rPr>
              <a:t>►  </a:t>
            </a:r>
            <a:r>
              <a:rPr b="1" sz="1500">
                <a:solidFill>
                  <a:srgbClr val="1A1D21"/>
                </a:solidFill>
                <a:latin typeface="Calibri"/>
              </a:rPr>
              <a:t>On the call, ask: </a:t>
            </a:r>
            <a:r>
              <a:rPr sz="1500">
                <a:solidFill>
                  <a:srgbClr val="1A1D21"/>
                </a:solidFill>
                <a:latin typeface="Calibri"/>
              </a:rPr>
              <a:t>“When you said 903 — do you mean the outbound port to Claude (443), or a corporate egress-proxy port? And which port should the container expose to the ALB — I default to 3000?”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274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ED1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1064240" cy="274320"/>
          </a:xfrm>
          <a:prstGeom prst="rect">
            <a:avLst/>
          </a:prstGeom>
          <a:noFill/>
        </p:spPr>
        <p:txBody>
          <a:bodyPr wrap="square" anchor="t" lIns="25400" rIns="25400" tIns="12700" bIns="12700">
            <a:spAutoFit/>
          </a:bodyPr>
          <a:lstStyle/>
          <a:p>
            <a:pPr algn="l"/>
            <a:r>
              <a:rPr sz="1200" b="1" i="0">
                <a:solidFill>
                  <a:srgbClr val="CFDAE2"/>
                </a:solidFill>
                <a:latin typeface="Calibri"/>
              </a:rPr>
              <a:t>CONCEPT</a:t>
            </a:r>
          </a:p>
        </p:txBody>
      </p:sp>
      <p:sp>
        <p:nvSpPr>
          <p:cNvPr id="5" name="TextBox 4"/>
          <p:cNvSpPr txBox="1"/>
          <p:nvPr/>
        </p:nvSpPr>
        <p:spPr>
          <a:xfrm>
            <a:off x="548640" y="402336"/>
            <a:ext cx="11064240" cy="548640"/>
          </a:xfrm>
          <a:prstGeom prst="rect">
            <a:avLst/>
          </a:prstGeom>
          <a:noFill/>
        </p:spPr>
        <p:txBody>
          <a:bodyPr wrap="square" anchor="t" lIns="25400" rIns="25400" tIns="12700" bIns="12700">
            <a:spAutoFit/>
          </a:bodyPr>
          <a:lstStyle/>
          <a:p>
            <a:pPr algn="l"/>
            <a:r>
              <a:rPr sz="2600" b="1" i="0">
                <a:solidFill>
                  <a:srgbClr val="FFFFFF"/>
                </a:solidFill>
                <a:latin typeface="Calibri"/>
              </a:rPr>
              <a:t>The Claude (Anthropic) API — what it is here</a:t>
            </a:r>
          </a:p>
        </p:txBody>
      </p:sp>
      <p:sp>
        <p:nvSpPr>
          <p:cNvPr id="6" name="TextBox 5"/>
          <p:cNvSpPr txBox="1"/>
          <p:nvPr/>
        </p:nvSpPr>
        <p:spPr>
          <a:xfrm>
            <a:off x="640080" y="1325880"/>
            <a:ext cx="10972800" cy="5212080"/>
          </a:xfrm>
          <a:prstGeom prst="rect">
            <a:avLst/>
          </a:prstGeom>
          <a:noFill/>
        </p:spPr>
        <p:txBody>
          <a:bodyPr wrap="square">
            <a:spAutoFit/>
          </a:bodyPr>
          <a:lstStyle/>
          <a:p>
            <a:pPr>
              <a:spcBef>
                <a:spcPts val="0"/>
              </a:spcBef>
              <a:spcAft>
                <a:spcPts val="1000"/>
              </a:spcAft>
            </a:pPr>
            <a:r>
              <a:rPr sz="1600" b="1">
                <a:solidFill>
                  <a:srgbClr val="ED1B2F"/>
                </a:solidFill>
                <a:latin typeface="Calibri"/>
              </a:rPr>
              <a:t>►  </a:t>
            </a:r>
            <a:r>
              <a:rPr sz="1600" b="0">
                <a:solidFill>
                  <a:srgbClr val="1A1D21"/>
                </a:solidFill>
                <a:latin typeface="Calibri"/>
              </a:rPr>
              <a:t>It is a REST API over HTTPS. The app already calls it with the official @anthropic-ai/sdk. No agent, daemon or open port to install — just outbound 443.</a:t>
            </a:r>
          </a:p>
          <a:p>
            <a:pPr>
              <a:spcBef>
                <a:spcPts val="0"/>
              </a:spcBef>
              <a:spcAft>
                <a:spcPts val="1000"/>
              </a:spcAft>
            </a:pPr>
            <a:r>
              <a:rPr sz="1600" b="1">
                <a:solidFill>
                  <a:srgbClr val="ED1B2F"/>
                </a:solidFill>
                <a:latin typeface="Calibri"/>
              </a:rPr>
              <a:t>►  </a:t>
            </a:r>
            <a:r>
              <a:rPr sz="1600" b="0">
                <a:solidFill>
                  <a:srgbClr val="1A1D21"/>
                </a:solidFill>
                <a:latin typeface="Calibri"/>
              </a:rPr>
              <a:t>Auth = one API key (ANTHROPIC_API_KEY), kept server-side only in Secrets Manager, never exposed to the browser.</a:t>
            </a:r>
          </a:p>
          <a:p>
            <a:pPr>
              <a:spcBef>
                <a:spcPts val="0"/>
              </a:spcBef>
              <a:spcAft>
                <a:spcPts val="1000"/>
              </a:spcAft>
            </a:pPr>
            <a:r>
              <a:rPr sz="1600" b="1">
                <a:solidFill>
                  <a:srgbClr val="ED1B2F"/>
                </a:solidFill>
                <a:latin typeface="Calibri"/>
              </a:rPr>
              <a:t>►  </a:t>
            </a:r>
            <a:r>
              <a:rPr b="1" sz="1600">
                <a:solidFill>
                  <a:srgbClr val="1A1D21"/>
                </a:solidFill>
                <a:latin typeface="Calibri"/>
              </a:rPr>
              <a:t>Data: </a:t>
            </a:r>
            <a:r>
              <a:rPr sz="1600">
                <a:solidFill>
                  <a:srgbClr val="1A1D21"/>
                </a:solidFill>
                <a:latin typeface="Calibri"/>
              </a:rPr>
              <a:t>Phase 1 prompts contain only public marketing content — no PII, no CRM data. Anthropic API has zero data retention + GDPR SCCs.</a:t>
            </a:r>
          </a:p>
          <a:p>
            <a:pPr>
              <a:spcBef>
                <a:spcPts val="0"/>
              </a:spcBef>
              <a:spcAft>
                <a:spcPts val="1000"/>
              </a:spcAft>
            </a:pPr>
            <a:r>
              <a:rPr sz="1600" b="1">
                <a:solidFill>
                  <a:srgbClr val="ED1B2F"/>
                </a:solidFill>
                <a:latin typeface="Calibri"/>
              </a:rPr>
              <a:t>►  </a:t>
            </a:r>
            <a:r>
              <a:rPr b="1" sz="1600">
                <a:solidFill>
                  <a:srgbClr val="1A1D21"/>
                </a:solidFill>
                <a:latin typeface="Calibri"/>
              </a:rPr>
              <a:t>If True Soft proposes AWS Bedrock (Claude served inside AWS): </a:t>
            </a:r>
            <a:r>
              <a:rPr sz="1600">
                <a:solidFill>
                  <a:srgbClr val="1A1D21"/>
                </a:solidFill>
                <a:latin typeface="Calibri"/>
              </a:rPr>
              <a:t>a legitimate future option (keeps the call in-AWS), but it’s a code change — note it, don’t block Phase 2 on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274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ED1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1064240" cy="274320"/>
          </a:xfrm>
          <a:prstGeom prst="rect">
            <a:avLst/>
          </a:prstGeom>
          <a:noFill/>
        </p:spPr>
        <p:txBody>
          <a:bodyPr wrap="square" anchor="t" lIns="25400" rIns="25400" tIns="12700" bIns="12700">
            <a:spAutoFit/>
          </a:bodyPr>
          <a:lstStyle/>
          <a:p>
            <a:pPr algn="l"/>
            <a:r>
              <a:rPr sz="1200" b="1" i="0">
                <a:solidFill>
                  <a:srgbClr val="CFDAE2"/>
                </a:solidFill>
                <a:latin typeface="Calibri"/>
              </a:rPr>
              <a:t>TO DO THIS WEEK</a:t>
            </a:r>
          </a:p>
        </p:txBody>
      </p:sp>
      <p:sp>
        <p:nvSpPr>
          <p:cNvPr id="5" name="TextBox 4"/>
          <p:cNvSpPr txBox="1"/>
          <p:nvPr/>
        </p:nvSpPr>
        <p:spPr>
          <a:xfrm>
            <a:off x="548640" y="402336"/>
            <a:ext cx="11064240" cy="548640"/>
          </a:xfrm>
          <a:prstGeom prst="rect">
            <a:avLst/>
          </a:prstGeom>
          <a:noFill/>
        </p:spPr>
        <p:txBody>
          <a:bodyPr wrap="square" anchor="t" lIns="25400" rIns="25400" tIns="12700" bIns="12700">
            <a:spAutoFit/>
          </a:bodyPr>
          <a:lstStyle/>
          <a:p>
            <a:pPr algn="l"/>
            <a:r>
              <a:rPr sz="2600" b="1" i="0">
                <a:solidFill>
                  <a:srgbClr val="FFFFFF"/>
                </a:solidFill>
                <a:latin typeface="Calibri"/>
              </a:rPr>
              <a:t>Concrete gaps to close before I can deploy</a:t>
            </a:r>
          </a:p>
        </p:txBody>
      </p:sp>
      <p:sp>
        <p:nvSpPr>
          <p:cNvPr id="6" name="TextBox 5"/>
          <p:cNvSpPr txBox="1"/>
          <p:nvPr/>
        </p:nvSpPr>
        <p:spPr>
          <a:xfrm>
            <a:off x="640080" y="1325880"/>
            <a:ext cx="10972800" cy="5212080"/>
          </a:xfrm>
          <a:prstGeom prst="rect">
            <a:avLst/>
          </a:prstGeom>
          <a:noFill/>
        </p:spPr>
        <p:txBody>
          <a:bodyPr wrap="square">
            <a:spAutoFit/>
          </a:bodyPr>
          <a:lstStyle/>
          <a:p>
            <a:pPr>
              <a:spcBef>
                <a:spcPts val="0"/>
              </a:spcBef>
              <a:spcAft>
                <a:spcPts val="1100"/>
              </a:spcAft>
            </a:pPr>
            <a:r>
              <a:rPr sz="1650" b="1">
                <a:solidFill>
                  <a:srgbClr val="ED1B2F"/>
                </a:solidFill>
                <a:latin typeface="Calibri"/>
              </a:rPr>
              <a:t>►  </a:t>
            </a:r>
            <a:r>
              <a:rPr sz="1650" b="0">
                <a:solidFill>
                  <a:srgbClr val="1E7E45"/>
                </a:solidFill>
                <a:latin typeface="Calibri"/>
              </a:rPr>
              <a:t>Add a production Dockerfile (multi-stage, Next.js standalone) — Fargate needs an image in ECR; Railway’s Nixpacks doesn’t carry over.</a:t>
            </a:r>
          </a:p>
          <a:p>
            <a:pPr>
              <a:spcBef>
                <a:spcPts val="0"/>
              </a:spcBef>
              <a:spcAft>
                <a:spcPts val="1100"/>
              </a:spcAft>
            </a:pPr>
            <a:r>
              <a:rPr sz="1650" b="1">
                <a:solidFill>
                  <a:srgbClr val="ED1B2F"/>
                </a:solidFill>
                <a:latin typeface="Calibri"/>
              </a:rPr>
              <a:t>►  </a:t>
            </a:r>
            <a:r>
              <a:rPr b="1" sz="1650">
                <a:solidFill>
                  <a:srgbClr val="1A1D21"/>
                </a:solidFill>
                <a:latin typeface="Calibri"/>
              </a:rPr>
              <a:t>Enable output: </a:t>
            </a:r>
            <a:r>
              <a:rPr sz="1650">
                <a:solidFill>
                  <a:srgbClr val="1A1D21"/>
                </a:solidFill>
                <a:latin typeface="Calibri"/>
              </a:rPr>
              <a:t>“standalone” in next.config.ts — lean self-contained server bundle.</a:t>
            </a:r>
          </a:p>
          <a:p>
            <a:pPr>
              <a:spcBef>
                <a:spcPts val="0"/>
              </a:spcBef>
              <a:spcAft>
                <a:spcPts val="1100"/>
              </a:spcAft>
            </a:pPr>
            <a:r>
              <a:rPr sz="1650" b="1">
                <a:solidFill>
                  <a:srgbClr val="ED1B2F"/>
                </a:solidFill>
                <a:latin typeface="Calibri"/>
              </a:rPr>
              <a:t>►  </a:t>
            </a:r>
            <a:r>
              <a:rPr sz="1650" b="0">
                <a:solidFill>
                  <a:srgbClr val="1A1D21"/>
                </a:solidFill>
                <a:latin typeface="Calibri"/>
              </a:rPr>
              <a:t>Add /api/health returning 200 — point the ALB target-group health check at it (‘/’ redirects to login, a fragile signal).</a:t>
            </a:r>
          </a:p>
          <a:p>
            <a:pPr>
              <a:spcBef>
                <a:spcPts val="0"/>
              </a:spcBef>
              <a:spcAft>
                <a:spcPts val="1100"/>
              </a:spcAft>
            </a:pPr>
            <a:r>
              <a:rPr sz="1650" b="1">
                <a:solidFill>
                  <a:srgbClr val="ED1B2F"/>
                </a:solidFill>
                <a:latin typeface="Calibri"/>
              </a:rPr>
              <a:t>►  </a:t>
            </a:r>
            <a:r>
              <a:rPr sz="1650" b="0">
                <a:solidFill>
                  <a:srgbClr val="1A1D21"/>
                </a:solidFill>
                <a:latin typeface="Calibri"/>
              </a:rPr>
              <a:t>Confirm the 5 secrets list and that none are committed (.gitignore verified).</a:t>
            </a:r>
          </a:p>
          <a:p>
            <a:pPr>
              <a:spcBef>
                <a:spcPts val="0"/>
              </a:spcBef>
              <a:spcAft>
                <a:spcPts val="1100"/>
              </a:spcAft>
            </a:pPr>
            <a:r>
              <a:rPr sz="1650" b="1">
                <a:solidFill>
                  <a:srgbClr val="ED1B2F"/>
                </a:solidFill>
                <a:latin typeface="Calibri"/>
              </a:rPr>
              <a:t>►  </a:t>
            </a:r>
            <a:r>
              <a:rPr sz="1650" b="0">
                <a:solidFill>
                  <a:srgbClr val="1A1D21"/>
                </a:solidFill>
                <a:latin typeface="Calibri"/>
              </a:rPr>
              <a:t>All four are written ready-to-paste in docs/AWS-MEETING-PREP.md.</a:t>
            </a:r>
          </a:p>
        </p:txBody>
      </p:sp>
      <p:sp>
        <p:nvSpPr>
          <p:cNvPr id="7" name="Rounded Rectangle 6"/>
          <p:cNvSpPr/>
          <p:nvPr/>
        </p:nvSpPr>
        <p:spPr>
          <a:xfrm>
            <a:off x="548640" y="6263640"/>
            <a:ext cx="11064240" cy="457200"/>
          </a:xfrm>
          <a:prstGeom prst="roundRect">
            <a:avLst/>
          </a:prstGeom>
          <a:solidFill>
            <a:srgbClr val="F5F6F8"/>
          </a:solidFill>
          <a:ln w="12700">
            <a:solidFill>
              <a:srgbClr val="E6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263640"/>
            <a:ext cx="10789920" cy="457200"/>
          </a:xfrm>
          <a:prstGeom prst="rect">
            <a:avLst/>
          </a:prstGeom>
          <a:noFill/>
        </p:spPr>
        <p:txBody>
          <a:bodyPr wrap="square" anchor="ctr">
            <a:spAutoFit/>
          </a:bodyPr>
          <a:lstStyle/>
          <a:p>
            <a:r>
              <a:rPr sz="1100" b="1">
                <a:solidFill>
                  <a:srgbClr val="ED1B2F"/>
                </a:solidFill>
              </a:rPr>
              <a:t>●  </a:t>
            </a:r>
            <a:r>
              <a:rPr sz="1150" i="1">
                <a:solidFill>
                  <a:srgbClr val="274E64"/>
                </a:solidFill>
                <a:latin typeface="Calibri"/>
              </a:rPr>
              <a:t>Walking in with the repo already container-ready (Dockerfile + health route) is the single biggest signal of preparedness.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274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ED1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1064240" cy="274320"/>
          </a:xfrm>
          <a:prstGeom prst="rect">
            <a:avLst/>
          </a:prstGeom>
          <a:noFill/>
        </p:spPr>
        <p:txBody>
          <a:bodyPr wrap="square" anchor="t" lIns="25400" rIns="25400" tIns="12700" bIns="12700">
            <a:spAutoFit/>
          </a:bodyPr>
          <a:lstStyle/>
          <a:p>
            <a:pPr algn="l"/>
            <a:r>
              <a:rPr sz="1200" b="1" i="0">
                <a:solidFill>
                  <a:srgbClr val="CFDAE2"/>
                </a:solidFill>
                <a:latin typeface="Calibri"/>
              </a:rPr>
              <a:t>BUDGET</a:t>
            </a:r>
          </a:p>
        </p:txBody>
      </p:sp>
      <p:sp>
        <p:nvSpPr>
          <p:cNvPr id="5" name="TextBox 4"/>
          <p:cNvSpPr txBox="1"/>
          <p:nvPr/>
        </p:nvSpPr>
        <p:spPr>
          <a:xfrm>
            <a:off x="548640" y="402336"/>
            <a:ext cx="11064240" cy="548640"/>
          </a:xfrm>
          <a:prstGeom prst="rect">
            <a:avLst/>
          </a:prstGeom>
          <a:noFill/>
        </p:spPr>
        <p:txBody>
          <a:bodyPr wrap="square" anchor="t" lIns="25400" rIns="25400" tIns="12700" bIns="12700">
            <a:spAutoFit/>
          </a:bodyPr>
          <a:lstStyle/>
          <a:p>
            <a:pPr algn="l"/>
            <a:r>
              <a:rPr sz="2600" b="1" i="0">
                <a:solidFill>
                  <a:srgbClr val="FFFFFF"/>
                </a:solidFill>
                <a:latin typeface="Calibri"/>
              </a:rPr>
              <a:t>Cost — so I’m not surprised when they mention it</a:t>
            </a:r>
          </a:p>
        </p:txBody>
      </p:sp>
      <p:sp>
        <p:nvSpPr>
          <p:cNvPr id="6" name="TextBox 5"/>
          <p:cNvSpPr txBox="1"/>
          <p:nvPr/>
        </p:nvSpPr>
        <p:spPr>
          <a:xfrm>
            <a:off x="640080" y="1325880"/>
            <a:ext cx="10972800" cy="5212080"/>
          </a:xfrm>
          <a:prstGeom prst="rect">
            <a:avLst/>
          </a:prstGeom>
          <a:noFill/>
        </p:spPr>
        <p:txBody>
          <a:bodyPr wrap="square">
            <a:spAutoFit/>
          </a:bodyPr>
          <a:lstStyle/>
          <a:p>
            <a:pPr>
              <a:spcBef>
                <a:spcPts val="0"/>
              </a:spcBef>
              <a:spcAft>
                <a:spcPts val="800"/>
              </a:spcAft>
            </a:pPr>
            <a:r>
              <a:rPr sz="1550" b="1">
                <a:solidFill>
                  <a:srgbClr val="ED1B2F"/>
                </a:solidFill>
                <a:latin typeface="Calibri"/>
              </a:rPr>
              <a:t>►  </a:t>
            </a:r>
            <a:r>
              <a:rPr b="1" sz="1550">
                <a:solidFill>
                  <a:srgbClr val="1A1D21"/>
                </a:solidFill>
                <a:latin typeface="Calibri"/>
              </a:rPr>
              <a:t>Phase 1 on Railway: </a:t>
            </a:r>
            <a:r>
              <a:rPr sz="1550">
                <a:solidFill>
                  <a:srgbClr val="1A1D21"/>
                </a:solidFill>
                <a:latin typeface="Calibri"/>
              </a:rPr>
              <a:t>~CHF 36–72 / month.</a:t>
            </a:r>
          </a:p>
          <a:p>
            <a:pPr>
              <a:spcBef>
                <a:spcPts val="0"/>
              </a:spcBef>
              <a:spcAft>
                <a:spcPts val="800"/>
              </a:spcAft>
            </a:pPr>
            <a:r>
              <a:rPr sz="1550" b="1">
                <a:solidFill>
                  <a:srgbClr val="ED1B2F"/>
                </a:solidFill>
                <a:latin typeface="Calibri"/>
              </a:rPr>
              <a:t>►  </a:t>
            </a:r>
            <a:r>
              <a:rPr b="1" sz="1550">
                <a:solidFill>
                  <a:srgbClr val="1A1D21"/>
                </a:solidFill>
                <a:latin typeface="Calibri"/>
              </a:rPr>
              <a:t>Small HA-capable Fargate setup: </a:t>
            </a:r>
            <a:r>
              <a:rPr sz="1550">
                <a:solidFill>
                  <a:srgbClr val="1A1D21"/>
                </a:solidFill>
                <a:latin typeface="Calibri"/>
              </a:rPr>
              <a:t>realistically ~CHF 80–150 / month:</a:t>
            </a:r>
          </a:p>
          <a:p>
            <a:pPr lvl="1">
              <a:spcBef>
                <a:spcPts val="0"/>
              </a:spcBef>
              <a:spcAft>
                <a:spcPts val="800"/>
              </a:spcAft>
            </a:pPr>
            <a:r>
              <a:rPr sz="1450" b="0">
                <a:solidFill>
                  <a:srgbClr val="5B6470"/>
                </a:solidFill>
                <a:latin typeface="Calibri"/>
              </a:rPr>
              <a:t>–  Fargate task (0.5 vCPU / 1 GB, 24/7): ~$18/mo per task.</a:t>
            </a:r>
          </a:p>
          <a:p>
            <a:pPr lvl="1">
              <a:spcBef>
                <a:spcPts val="0"/>
              </a:spcBef>
              <a:spcAft>
                <a:spcPts val="800"/>
              </a:spcAft>
            </a:pPr>
            <a:r>
              <a:rPr sz="1450" b="0">
                <a:solidFill>
                  <a:srgbClr val="5B6470"/>
                </a:solidFill>
                <a:latin typeface="Calibri"/>
              </a:rPr>
              <a:t>–  ALB: ~$16–22/mo.   RDS db.t4g.micro: ~$12–15/mo.</a:t>
            </a:r>
          </a:p>
          <a:p>
            <a:pPr lvl="1">
              <a:spcBef>
                <a:spcPts val="0"/>
              </a:spcBef>
              <a:spcAft>
                <a:spcPts val="800"/>
              </a:spcAft>
            </a:pPr>
            <a:r>
              <a:rPr sz="1450" b="0">
                <a:solidFill>
                  <a:srgbClr val="C77700"/>
                </a:solidFill>
                <a:latin typeface="Calibri"/>
              </a:rPr>
              <a:t>–  NAT Gateway: ~$32/mo + data  ←  the usual surprise cost.</a:t>
            </a:r>
          </a:p>
          <a:p>
            <a:pPr lvl="1">
              <a:spcBef>
                <a:spcPts val="0"/>
              </a:spcBef>
              <a:spcAft>
                <a:spcPts val="800"/>
              </a:spcAft>
            </a:pPr>
            <a:r>
              <a:rPr sz="1450" b="0">
                <a:solidFill>
                  <a:srgbClr val="5B6470"/>
                </a:solidFill>
                <a:latin typeface="Calibri"/>
              </a:rPr>
              <a:t>–  Secrets Manager (~$0.40/secret), CloudWatch: a few dollars.</a:t>
            </a:r>
          </a:p>
          <a:p>
            <a:pPr>
              <a:spcBef>
                <a:spcPts val="0"/>
              </a:spcBef>
              <a:spcAft>
                <a:spcPts val="800"/>
              </a:spcAft>
            </a:pPr>
            <a:r>
              <a:rPr sz="1550" b="1">
                <a:solidFill>
                  <a:srgbClr val="ED1B2F"/>
                </a:solidFill>
                <a:latin typeface="Calibri"/>
              </a:rPr>
              <a:t>►  </a:t>
            </a:r>
            <a:r>
              <a:rPr b="1" sz="1550">
                <a:solidFill>
                  <a:srgbClr val="1A1D21"/>
                </a:solidFill>
                <a:latin typeface="Calibri"/>
              </a:rPr>
              <a:t>Mitigation to raise: </a:t>
            </a:r>
            <a:r>
              <a:rPr sz="1550">
                <a:solidFill>
                  <a:srgbClr val="1A1D21"/>
                </a:solidFill>
                <a:latin typeface="Calibri"/>
              </a:rPr>
              <a:t>use VPC endpoints and/or a single NAT to cut egress cost — ask how they handle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274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ED1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1064240" cy="274320"/>
          </a:xfrm>
          <a:prstGeom prst="rect">
            <a:avLst/>
          </a:prstGeom>
          <a:noFill/>
        </p:spPr>
        <p:txBody>
          <a:bodyPr wrap="square" anchor="t" lIns="25400" rIns="25400" tIns="12700" bIns="12700">
            <a:spAutoFit/>
          </a:bodyPr>
          <a:lstStyle/>
          <a:p>
            <a:pPr algn="l"/>
            <a:r>
              <a:rPr sz="1200" b="1" i="0">
                <a:solidFill>
                  <a:srgbClr val="CFDAE2"/>
                </a:solidFill>
                <a:latin typeface="Calibri"/>
              </a:rPr>
              <a:t>THE ASK</a:t>
            </a:r>
          </a:p>
        </p:txBody>
      </p:sp>
      <p:sp>
        <p:nvSpPr>
          <p:cNvPr id="5" name="TextBox 4"/>
          <p:cNvSpPr txBox="1"/>
          <p:nvPr/>
        </p:nvSpPr>
        <p:spPr>
          <a:xfrm>
            <a:off x="548640" y="402336"/>
            <a:ext cx="11064240" cy="548640"/>
          </a:xfrm>
          <a:prstGeom prst="rect">
            <a:avLst/>
          </a:prstGeom>
          <a:noFill/>
        </p:spPr>
        <p:txBody>
          <a:bodyPr wrap="square" anchor="t" lIns="25400" rIns="25400" tIns="12700" bIns="12700">
            <a:spAutoFit/>
          </a:bodyPr>
          <a:lstStyle/>
          <a:p>
            <a:pPr algn="l"/>
            <a:r>
              <a:rPr sz="2600" b="1" i="0">
                <a:solidFill>
                  <a:srgbClr val="FFFFFF"/>
                </a:solidFill>
                <a:latin typeface="Calibri"/>
              </a:rPr>
              <a:t>Getting the right to deploy myself — two models</a:t>
            </a:r>
          </a:p>
        </p:txBody>
      </p:sp>
      <p:sp>
        <p:nvSpPr>
          <p:cNvPr id="6" name="TextBox 5"/>
          <p:cNvSpPr txBox="1"/>
          <p:nvPr/>
        </p:nvSpPr>
        <p:spPr>
          <a:xfrm>
            <a:off x="640080" y="1325880"/>
            <a:ext cx="10972800" cy="5212080"/>
          </a:xfrm>
          <a:prstGeom prst="rect">
            <a:avLst/>
          </a:prstGeom>
          <a:noFill/>
        </p:spPr>
        <p:txBody>
          <a:bodyPr wrap="square">
            <a:spAutoFit/>
          </a:bodyPr>
          <a:lstStyle/>
          <a:p>
            <a:pPr>
              <a:spcBef>
                <a:spcPts val="0"/>
              </a:spcBef>
              <a:spcAft>
                <a:spcPts val="700"/>
              </a:spcAft>
            </a:pPr>
            <a:r>
              <a:rPr sz="1450" b="1">
                <a:solidFill>
                  <a:srgbClr val="ED1B2F"/>
                </a:solidFill>
                <a:latin typeface="Calibri"/>
              </a:rPr>
              <a:t>►  </a:t>
            </a:r>
            <a:r>
              <a:rPr b="1" sz="1450">
                <a:solidFill>
                  <a:srgbClr val="1E7E45"/>
                </a:solidFill>
                <a:latin typeface="Calibri"/>
              </a:rPr>
              <a:t>Model A (ask for this) — GitOps / CI-CD: </a:t>
            </a:r>
            <a:r>
              <a:rPr sz="1450">
                <a:solidFill>
                  <a:srgbClr val="1E7E45"/>
                </a:solidFill>
                <a:latin typeface="Calibri"/>
              </a:rPr>
              <a:t>deploying = merging to main.</a:t>
            </a:r>
          </a:p>
          <a:p>
            <a:pPr lvl="1">
              <a:spcBef>
                <a:spcPts val="0"/>
              </a:spcBef>
              <a:spcAft>
                <a:spcPts val="700"/>
              </a:spcAft>
            </a:pPr>
            <a:r>
              <a:rPr sz="1350" b="0">
                <a:solidFill>
                  <a:srgbClr val="5B6470"/>
                </a:solidFill>
                <a:latin typeface="Calibri"/>
              </a:rPr>
              <a:t>–  GitHub Actions builds the image → pushes to ECR → runs ecs update-service.</a:t>
            </a:r>
          </a:p>
          <a:p>
            <a:pPr lvl="1">
              <a:spcBef>
                <a:spcPts val="0"/>
              </a:spcBef>
              <a:spcAft>
                <a:spcPts val="700"/>
              </a:spcAft>
            </a:pPr>
            <a:r>
              <a:rPr sz="1350" b="0">
                <a:solidFill>
                  <a:srgbClr val="5B6470"/>
                </a:solidFill>
                <a:latin typeface="Calibri"/>
              </a:rPr>
              <a:t>–  Authenticated by a GitHub-OIDC IAM role (no long-lived AWS keys). I never hold admin; full audit + rollback stay with the company.</a:t>
            </a:r>
          </a:p>
          <a:p>
            <a:pPr>
              <a:spcBef>
                <a:spcPts val="0"/>
              </a:spcBef>
              <a:spcAft>
                <a:spcPts val="700"/>
              </a:spcAft>
            </a:pPr>
            <a:r>
              <a:rPr sz="1450" b="1">
                <a:solidFill>
                  <a:srgbClr val="ED1B2F"/>
                </a:solidFill>
                <a:latin typeface="Calibri"/>
              </a:rPr>
              <a:t>►  </a:t>
            </a:r>
            <a:r>
              <a:rPr b="1" sz="1450">
                <a:solidFill>
                  <a:srgbClr val="1A1D21"/>
                </a:solidFill>
                <a:latin typeface="Calibri"/>
              </a:rPr>
              <a:t>Model B (fallback) — direct scoped access: </a:t>
            </a:r>
            <a:r>
              <a:rPr sz="1450">
                <a:solidFill>
                  <a:srgbClr val="1A1D21"/>
                </a:solidFill>
                <a:latin typeface="Calibri"/>
              </a:rPr>
              <a:t>an IAM role (via Entra ID SSO) limited to THIS app’s resources only (ECR push, ECS update, iam:PassRole, read logs).</a:t>
            </a:r>
          </a:p>
          <a:p>
            <a:pPr>
              <a:spcBef>
                <a:spcPts val="0"/>
              </a:spcBef>
              <a:spcAft>
                <a:spcPts val="700"/>
              </a:spcAft>
            </a:pPr>
            <a:r>
              <a:rPr sz="1450" b="1">
                <a:solidFill>
                  <a:srgbClr val="ED1B2F"/>
                </a:solidFill>
                <a:latin typeface="Calibri"/>
              </a:rPr>
              <a:t>►  </a:t>
            </a:r>
            <a:r>
              <a:rPr b="1" sz="1450">
                <a:solidFill>
                  <a:srgbClr val="1A1D21"/>
                </a:solidFill>
                <a:latin typeface="Calibri"/>
              </a:rPr>
              <a:t>What I must write down on the call: </a:t>
            </a:r>
            <a:r>
              <a:rPr sz="1450">
                <a:solidFill>
                  <a:srgbClr val="1A1D21"/>
                </a:solidFill>
                <a:latin typeface="Calibri"/>
              </a:rPr>
              <a:t>account ID, region, ECR repo, ECS cluster + service, task-exec role ARN, how secrets are set, whether MFA/SSO is required.</a:t>
            </a:r>
          </a:p>
          <a:p>
            <a:pPr>
              <a:spcBef>
                <a:spcPts val="0"/>
              </a:spcBef>
              <a:spcAft>
                <a:spcPts val="700"/>
              </a:spcAft>
            </a:pPr>
            <a:r>
              <a:rPr sz="1450" b="1">
                <a:solidFill>
                  <a:srgbClr val="ED1B2F"/>
                </a:solidFill>
                <a:latin typeface="Calibri"/>
              </a:rPr>
              <a:t>►  </a:t>
            </a:r>
            <a:r>
              <a:rPr b="1" sz="1450">
                <a:solidFill>
                  <a:srgbClr val="1A1D21"/>
                </a:solidFill>
                <a:latin typeface="Calibri"/>
              </a:rPr>
              <a:t>Framing: </a:t>
            </a:r>
            <a:r>
              <a:rPr sz="1450">
                <a:solidFill>
                  <a:srgbClr val="1A1D21"/>
                </a:solidFill>
                <a:latin typeface="Calibri"/>
              </a:rPr>
              <a:t>self-deploy rights need Group IT / Security sign-off — ask “who owns granting the OIDC role?” (See the dedicated Permissions deck.)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274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ED1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1064240" cy="274320"/>
          </a:xfrm>
          <a:prstGeom prst="rect">
            <a:avLst/>
          </a:prstGeom>
          <a:noFill/>
        </p:spPr>
        <p:txBody>
          <a:bodyPr wrap="square" anchor="t" lIns="25400" rIns="25400" tIns="12700" bIns="12700">
            <a:spAutoFit/>
          </a:bodyPr>
          <a:lstStyle/>
          <a:p>
            <a:pPr algn="l"/>
            <a:r>
              <a:rPr sz="1200" b="1" i="0">
                <a:solidFill>
                  <a:srgbClr val="CFDAE2"/>
                </a:solidFill>
                <a:latin typeface="Calibri"/>
              </a:rPr>
              <a:t>CHECKLIST</a:t>
            </a:r>
          </a:p>
        </p:txBody>
      </p:sp>
      <p:sp>
        <p:nvSpPr>
          <p:cNvPr id="5" name="TextBox 4"/>
          <p:cNvSpPr txBox="1"/>
          <p:nvPr/>
        </p:nvSpPr>
        <p:spPr>
          <a:xfrm>
            <a:off x="548640" y="402336"/>
            <a:ext cx="11064240" cy="548640"/>
          </a:xfrm>
          <a:prstGeom prst="rect">
            <a:avLst/>
          </a:prstGeom>
          <a:noFill/>
        </p:spPr>
        <p:txBody>
          <a:bodyPr wrap="square" anchor="t" lIns="25400" rIns="25400" tIns="12700" bIns="12700">
            <a:spAutoFit/>
          </a:bodyPr>
          <a:lstStyle/>
          <a:p>
            <a:pPr algn="l"/>
            <a:r>
              <a:rPr sz="2600" b="1" i="0">
                <a:solidFill>
                  <a:srgbClr val="FFFFFF"/>
                </a:solidFill>
                <a:latin typeface="Calibri"/>
              </a:rPr>
              <a:t>Questions to ask True Soft</a:t>
            </a:r>
          </a:p>
        </p:txBody>
      </p:sp>
      <p:sp>
        <p:nvSpPr>
          <p:cNvPr id="6" name="TextBox 5"/>
          <p:cNvSpPr txBox="1"/>
          <p:nvPr/>
        </p:nvSpPr>
        <p:spPr>
          <a:xfrm>
            <a:off x="640080" y="1325880"/>
            <a:ext cx="10972800" cy="5212080"/>
          </a:xfrm>
          <a:prstGeom prst="rect">
            <a:avLst/>
          </a:prstGeom>
          <a:noFill/>
        </p:spPr>
        <p:txBody>
          <a:bodyPr wrap="square">
            <a:spAutoFit/>
          </a:bodyPr>
          <a:lstStyle/>
          <a:p>
            <a:pPr>
              <a:spcBef>
                <a:spcPts val="0"/>
              </a:spcBef>
              <a:spcAft>
                <a:spcPts val="800"/>
              </a:spcAft>
            </a:pPr>
            <a:r>
              <a:rPr sz="1500" b="1">
                <a:solidFill>
                  <a:srgbClr val="ED1B2F"/>
                </a:solidFill>
                <a:latin typeface="Calibri"/>
              </a:rPr>
              <a:t>►  </a:t>
            </a:r>
            <a:r>
              <a:rPr sz="1500" b="0">
                <a:solidFill>
                  <a:srgbClr val="1A1D21"/>
                </a:solidFill>
                <a:latin typeface="Calibri"/>
              </a:rPr>
              <a:t>Confirm ‘port 903’ — outbound to Claude (443) or a corporate egress proxy? What container port should I expose (I default to 3000)?</a:t>
            </a:r>
          </a:p>
          <a:p>
            <a:pPr>
              <a:spcBef>
                <a:spcPts val="0"/>
              </a:spcBef>
              <a:spcAft>
                <a:spcPts val="800"/>
              </a:spcAft>
            </a:pPr>
            <a:r>
              <a:rPr sz="1500" b="1">
                <a:solidFill>
                  <a:srgbClr val="ED1B2F"/>
                </a:solidFill>
                <a:latin typeface="Calibri"/>
              </a:rPr>
              <a:t>►  </a:t>
            </a:r>
            <a:r>
              <a:rPr sz="1500" b="0">
                <a:solidFill>
                  <a:srgbClr val="1A1D21"/>
                </a:solidFill>
                <a:latin typeface="Calibri"/>
              </a:rPr>
              <a:t>Fargate or App Runner for a low-traffic internal app — which do you recommend and why?</a:t>
            </a:r>
          </a:p>
          <a:p>
            <a:pPr>
              <a:spcBef>
                <a:spcPts val="0"/>
              </a:spcBef>
              <a:spcAft>
                <a:spcPts val="800"/>
              </a:spcAft>
            </a:pPr>
            <a:r>
              <a:rPr sz="1500" b="1">
                <a:solidFill>
                  <a:srgbClr val="ED1B2F"/>
                </a:solidFill>
                <a:latin typeface="Calibri"/>
              </a:rPr>
              <a:t>►  </a:t>
            </a:r>
            <a:r>
              <a:rPr sz="1500" b="0">
                <a:solidFill>
                  <a:srgbClr val="1A1D21"/>
                </a:solidFill>
                <a:latin typeface="Calibri"/>
              </a:rPr>
              <a:t>How do you handle egress (NAT gateway vs VPC endpoints) and at what cost?</a:t>
            </a:r>
          </a:p>
          <a:p>
            <a:pPr>
              <a:spcBef>
                <a:spcPts val="0"/>
              </a:spcBef>
              <a:spcAft>
                <a:spcPts val="800"/>
              </a:spcAft>
            </a:pPr>
            <a:r>
              <a:rPr sz="1500" b="1">
                <a:solidFill>
                  <a:srgbClr val="ED1B2F"/>
                </a:solidFill>
                <a:latin typeface="Calibri"/>
              </a:rPr>
              <a:t>►  </a:t>
            </a:r>
            <a:r>
              <a:rPr sz="1500" b="0">
                <a:solidFill>
                  <a:srgbClr val="1A1D21"/>
                </a:solidFill>
                <a:latin typeface="Calibri"/>
              </a:rPr>
              <a:t>Image built by GitHub Actions → ECR, or do you build it? (I’m adding a Dockerfile either way.)</a:t>
            </a:r>
          </a:p>
          <a:p>
            <a:pPr>
              <a:spcBef>
                <a:spcPts val="0"/>
              </a:spcBef>
              <a:spcAft>
                <a:spcPts val="800"/>
              </a:spcAft>
            </a:pPr>
            <a:r>
              <a:rPr sz="1500" b="1">
                <a:solidFill>
                  <a:srgbClr val="ED1B2F"/>
                </a:solidFill>
                <a:latin typeface="Calibri"/>
              </a:rPr>
              <a:t>►  </a:t>
            </a:r>
            <a:r>
              <a:rPr sz="1500" b="0">
                <a:solidFill>
                  <a:srgbClr val="1A1D21"/>
                </a:solidFill>
                <a:latin typeface="Calibri"/>
              </a:rPr>
              <a:t>Can we set up the CI-CD pipeline + OIDC role so I self-deploy by merging to main? Who in Group IT approves?</a:t>
            </a:r>
          </a:p>
          <a:p>
            <a:pPr>
              <a:spcBef>
                <a:spcPts val="0"/>
              </a:spcBef>
              <a:spcAft>
                <a:spcPts val="800"/>
              </a:spcAft>
            </a:pPr>
            <a:r>
              <a:rPr sz="1500" b="1">
                <a:solidFill>
                  <a:srgbClr val="ED1B2F"/>
                </a:solidFill>
                <a:latin typeface="Calibri"/>
              </a:rPr>
              <a:t>►  </a:t>
            </a:r>
            <a:r>
              <a:rPr sz="1500" b="0">
                <a:solidFill>
                  <a:srgbClr val="1A1D21"/>
                </a:solidFill>
                <a:latin typeface="Calibri"/>
              </a:rPr>
              <a:t>Is Bedrock (Claude inside AWS) on the table, or keep the public Anthropic API with egress allow-listing?</a:t>
            </a:r>
          </a:p>
          <a:p>
            <a:pPr>
              <a:spcBef>
                <a:spcPts val="0"/>
              </a:spcBef>
              <a:spcAft>
                <a:spcPts val="800"/>
              </a:spcAft>
            </a:pPr>
            <a:r>
              <a:rPr sz="1500" b="1">
                <a:solidFill>
                  <a:srgbClr val="ED1B2F"/>
                </a:solidFill>
                <a:latin typeface="Calibri"/>
              </a:rPr>
              <a:t>►  </a:t>
            </a:r>
            <a:r>
              <a:rPr sz="1500" b="0">
                <a:solidFill>
                  <a:srgbClr val="1A1D21"/>
                </a:solidFill>
                <a:latin typeface="Calibri"/>
              </a:rPr>
              <a:t>Who owns the Entra ID app registration, and what’s the timeline to a working dev environment in eu-central-1?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274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8100"/>
          </a:xfrm>
          <a:prstGeom prst="rect">
            <a:avLst/>
          </a:prstGeom>
          <a:solidFill>
            <a:srgbClr val="ED1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1064240" cy="274320"/>
          </a:xfrm>
          <a:prstGeom prst="rect">
            <a:avLst/>
          </a:prstGeom>
          <a:noFill/>
        </p:spPr>
        <p:txBody>
          <a:bodyPr wrap="square" anchor="t" lIns="25400" rIns="25400" tIns="12700" bIns="12700">
            <a:spAutoFit/>
          </a:bodyPr>
          <a:lstStyle/>
          <a:p>
            <a:pPr algn="l"/>
            <a:r>
              <a:rPr sz="1200" b="1" i="0">
                <a:solidFill>
                  <a:srgbClr val="CFDAE2"/>
                </a:solidFill>
                <a:latin typeface="Calibri"/>
              </a:rPr>
              <a:t>OPEN THE MEETING WITH THIS</a:t>
            </a:r>
          </a:p>
        </p:txBody>
      </p:sp>
      <p:sp>
        <p:nvSpPr>
          <p:cNvPr id="5" name="TextBox 4"/>
          <p:cNvSpPr txBox="1"/>
          <p:nvPr/>
        </p:nvSpPr>
        <p:spPr>
          <a:xfrm>
            <a:off x="548640" y="402336"/>
            <a:ext cx="11064240" cy="548640"/>
          </a:xfrm>
          <a:prstGeom prst="rect">
            <a:avLst/>
          </a:prstGeom>
          <a:noFill/>
        </p:spPr>
        <p:txBody>
          <a:bodyPr wrap="square" anchor="t" lIns="25400" rIns="25400" tIns="12700" bIns="12700">
            <a:spAutoFit/>
          </a:bodyPr>
          <a:lstStyle/>
          <a:p>
            <a:pPr algn="l"/>
            <a:r>
              <a:rPr sz="2600" b="1" i="0">
                <a:solidFill>
                  <a:srgbClr val="FFFFFF"/>
                </a:solidFill>
                <a:latin typeface="Calibri"/>
              </a:rPr>
              <a:t>My 30-second opening script</a:t>
            </a:r>
          </a:p>
        </p:txBody>
      </p:sp>
      <p:sp>
        <p:nvSpPr>
          <p:cNvPr id="6" name="Rounded Rectangle 5"/>
          <p:cNvSpPr/>
          <p:nvPr/>
        </p:nvSpPr>
        <p:spPr>
          <a:xfrm>
            <a:off x="640080" y="1371600"/>
            <a:ext cx="10881360" cy="4206240"/>
          </a:xfrm>
          <a:prstGeom prst="roundRect">
            <a:avLst/>
          </a:prstGeom>
          <a:solidFill>
            <a:srgbClr val="F5F6F8"/>
          </a:solidFill>
          <a:ln w="15875">
            <a:solidFill>
              <a:srgbClr val="E6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10149840" cy="3657600"/>
          </a:xfrm>
          <a:prstGeom prst="rect">
            <a:avLst/>
          </a:prstGeom>
          <a:noFill/>
        </p:spPr>
        <p:txBody>
          <a:bodyPr wrap="square">
            <a:spAutoFit/>
          </a:bodyPr>
          <a:lstStyle/>
          <a:p>
            <a:r>
              <a:rPr sz="1800" i="1">
                <a:solidFill>
                  <a:srgbClr val="1A1D21"/>
                </a:solidFill>
                <a:latin typeface="Calibri"/>
              </a:rPr>
              <a:t>“The app is already live in production on Railway as an isolated Phase-1 sandbox — no corporate data, only public marketing content, and just two outbound calls, to Claude and Gemini over HTTPS. Moving to AWS is a redeploy, not a rewrite: same Next.js container, behind an ALB and WAF, in a Frankfurt VPC, secrets in Secrets Manager. I’ve got the architecture sketch ready. What I’d like from today is to agree the Fargate shape, sort out egress and the Claude endpoint, and set up a CI-CD pipeline so I can deploy updates myself by merging to main, with a properly scoped role. I’m adding a Dockerfile and a health endpoint this week so the repo is container-ready.”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