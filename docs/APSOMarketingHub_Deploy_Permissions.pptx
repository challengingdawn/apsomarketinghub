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114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udio Saraiva" userId="8d733127-7368-425e-8ed2-f38d49efb382" providerId="ADAL" clId="{368642AD-090B-455C-8F3C-FD01329B3999}"/>
    <pc:docChg chg="modSld">
      <pc:chgData name="Claudio Saraiva" userId="8d733127-7368-425e-8ed2-f38d49efb382" providerId="ADAL" clId="{368642AD-090B-455C-8F3C-FD01329B3999}" dt="2026-06-07T15:31:47.062" v="0" actId="1076"/>
      <pc:docMkLst>
        <pc:docMk/>
      </pc:docMkLst>
      <pc:sldChg chg="modSp mod">
        <pc:chgData name="Claudio Saraiva" userId="8d733127-7368-425e-8ed2-f38d49efb382" providerId="ADAL" clId="{368642AD-090B-455C-8F3C-FD01329B3999}" dt="2026-06-07T15:31:47.062" v="0" actId="1076"/>
        <pc:sldMkLst>
          <pc:docMk/>
          <pc:sldMk cId="0" sldId="256"/>
        </pc:sldMkLst>
        <pc:spChg chg="mod">
          <ac:chgData name="Claudio Saraiva" userId="8d733127-7368-425e-8ed2-f38d49efb382" providerId="ADAL" clId="{368642AD-090B-455C-8F3C-FD01329B3999}" dt="2026-06-07T15:31:47.062" v="0" actId="1076"/>
          <ac:spMkLst>
            <pc:docMk/>
            <pc:sldMk cId="0" sldId="256"/>
            <ac:spMk id="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4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508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 i="0">
                <a:solidFill>
                  <a:srgbClr val="CFDAE2"/>
                </a:solidFill>
                <a:latin typeface="Calibri"/>
              </a:rPr>
              <a:t>ACCESS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9144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Self-Service Deployment — Access &amp; Permissions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4875415" y="2011680"/>
            <a:ext cx="10515600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900" b="0" i="0">
                <a:solidFill>
                  <a:srgbClr val="CFDAE2"/>
                </a:solidFill>
                <a:latin typeface="Calibri"/>
              </a:rPr>
              <a:t>How I get to deploy the APSO Marketing Hub myself — safely, with least privilege, SSO, and a full audit trail. Two models, the exact permissions, and who signs off.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0" i="0">
                <a:solidFill>
                  <a:srgbClr val="9AB0BD"/>
                </a:solidFill>
                <a:latin typeface="Calibri"/>
              </a:rPr>
              <a:t>APSOparts AG · Angst+Pfister Group · prepared by Claudio Saraiva for True Soft + Group 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274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642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1" i="0">
                <a:solidFill>
                  <a:srgbClr val="CFDAE2"/>
                </a:solidFill>
                <a:latin typeface="Calibri"/>
              </a:rPr>
              <a:t>THE 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106424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What “deploy myself” should mean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ED1B2F"/>
                </a:solidFill>
                <a:latin typeface="Calibri"/>
              </a:rPr>
              <a:t>►  </a:t>
            </a:r>
            <a:r>
              <a:rPr sz="1700" b="0">
                <a:solidFill>
                  <a:srgbClr val="1A1D21"/>
                </a:solidFill>
                <a:latin typeface="Calibri"/>
              </a:rPr>
              <a:t>I can ship an update to the app without filing a ticket or waiting on True Soft each time.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ED1B2F"/>
                </a:solidFill>
                <a:latin typeface="Calibri"/>
              </a:rPr>
              <a:t>►  </a:t>
            </a:r>
            <a:r>
              <a:rPr sz="1700" b="0">
                <a:solidFill>
                  <a:srgbClr val="1A1D21"/>
                </a:solidFill>
                <a:latin typeface="Calibri"/>
              </a:rPr>
              <a:t>… while the company keeps least privilege, SSO + MFA, full audit, and one-click rollback.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ED1B2F"/>
                </a:solidFill>
                <a:latin typeface="Calibri"/>
              </a:rPr>
              <a:t>►  </a:t>
            </a:r>
            <a:r>
              <a:rPr sz="1700" b="0">
                <a:solidFill>
                  <a:srgbClr val="1A1D21"/>
                </a:solidFill>
                <a:latin typeface="Calibri"/>
              </a:rPr>
              <a:t>“Deploy” in a Fargate world = push a new container image + tell the ECS service to roll to it.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ED1B2F"/>
                </a:solidFill>
                <a:latin typeface="Calibri"/>
              </a:rPr>
              <a:t>►  </a:t>
            </a:r>
            <a:r>
              <a:rPr sz="1700" b="1">
                <a:solidFill>
                  <a:srgbClr val="1A1D21"/>
                </a:solidFill>
                <a:latin typeface="Calibri"/>
              </a:rPr>
              <a:t>So I need exactly two capabilities: </a:t>
            </a:r>
            <a:r>
              <a:rPr sz="1700">
                <a:solidFill>
                  <a:srgbClr val="1A1D21"/>
                </a:solidFill>
                <a:latin typeface="Calibri"/>
              </a:rPr>
              <a:t>(1) put an image in ECR, (2) update the ECS service. Nothing more.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ED1B2F"/>
                </a:solidFill>
                <a:latin typeface="Calibri"/>
              </a:rPr>
              <a:t>►  </a:t>
            </a:r>
            <a:r>
              <a:rPr sz="1700" b="1">
                <a:solidFill>
                  <a:srgbClr val="1A1D21"/>
                </a:solidFill>
                <a:latin typeface="Calibri"/>
              </a:rPr>
              <a:t>I do NOT need: </a:t>
            </a:r>
            <a:r>
              <a:rPr sz="1700">
                <a:solidFill>
                  <a:srgbClr val="1A1D21"/>
                </a:solidFill>
                <a:latin typeface="Calibri"/>
              </a:rPr>
              <a:t>AWS admin, console-wide access, the ability to touch RDS data, IAM, networking, or other apps.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274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642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1" i="0">
                <a:solidFill>
                  <a:srgbClr val="CFDAE2"/>
                </a:solidFill>
                <a:latin typeface="Calibr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106424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Two models — ask for A, accept B as fallback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endParaRPr/>
                    </a:p>
                  </a:txBody>
                  <a:tcPr marL="76200" marR="76200" marT="38100" marB="38100" anchor="ctr">
                    <a:solidFill>
                      <a:srgbClr val="274E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 A — GitOps / CI-CD</a:t>
                      </a:r>
                    </a:p>
                  </a:txBody>
                  <a:tcPr marL="76200" marR="76200" marT="38100" marB="38100" anchor="ctr">
                    <a:solidFill>
                      <a:srgbClr val="274E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 B — direct scoped access</a:t>
                      </a:r>
                    </a:p>
                  </a:txBody>
                  <a:tcPr marL="76200" marR="76200" marT="38100" marB="38100" anchor="ctr">
                    <a:solidFill>
                      <a:srgbClr val="274E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74E64"/>
                          </a:solidFill>
                          <a:latin typeface="Calibri"/>
                        </a:rPr>
                        <a:t>How I deploy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D21"/>
                          </a:solidFill>
                          <a:latin typeface="Calibri"/>
                        </a:rPr>
                        <a:t>Merge to main → pipeline deploys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D21"/>
                          </a:solidFill>
                          <a:latin typeface="Calibri"/>
                        </a:rPr>
                        <a:t>I run aws ecs / docker push from CLI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74E64"/>
                          </a:solidFill>
                          <a:latin typeface="Calibri"/>
                        </a:rPr>
                        <a:t>Who holds AWS keys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D21"/>
                          </a:solidFill>
                          <a:latin typeface="Calibri"/>
                        </a:rPr>
                        <a:t>Nobody — GitHub-OIDC short-lived role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D21"/>
                          </a:solidFill>
                          <a:latin typeface="Calibri"/>
                        </a:rPr>
                        <a:t>Me, via Entra ID SSO (no static keys)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74E64"/>
                          </a:solidFill>
                          <a:latin typeface="Calibri"/>
                        </a:rPr>
                        <a:t>Privilege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D21"/>
                          </a:solidFill>
                          <a:latin typeface="Calibri"/>
                        </a:rPr>
                        <a:t>Pipeline role, scoped to this app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D21"/>
                          </a:solidFill>
                          <a:latin typeface="Calibri"/>
                        </a:rPr>
                        <a:t>Human role, scoped to this app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74E64"/>
                          </a:solidFill>
                          <a:latin typeface="Calibri"/>
                        </a:rPr>
                        <a:t>Audit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D21"/>
                          </a:solidFill>
                          <a:latin typeface="Calibri"/>
                        </a:rPr>
                        <a:t>Git history + pipeline logs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D21"/>
                          </a:solidFill>
                          <a:latin typeface="Calibri"/>
                        </a:rPr>
                        <a:t>CloudTrail on my role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74E64"/>
                          </a:solidFill>
                          <a:latin typeface="Calibri"/>
                        </a:rPr>
                        <a:t>Recommendation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D21"/>
                          </a:solidFill>
                          <a:latin typeface="Calibri"/>
                        </a:rPr>
                        <a:t>✔ Preferred — safest, repeatable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D21"/>
                          </a:solidFill>
                          <a:latin typeface="Calibri"/>
                        </a:rPr>
                        <a:t>Fallback if a human push is required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6263640"/>
            <a:ext cx="11064240" cy="45720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263640"/>
            <a:ext cx="10789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ED1B2F"/>
                </a:solidFill>
              </a:rPr>
              <a:t>●  </a:t>
            </a:r>
            <a:r>
              <a:rPr sz="1150" i="1">
                <a:solidFill>
                  <a:srgbClr val="274E64"/>
                </a:solidFill>
                <a:latin typeface="Calibri"/>
              </a:rPr>
              <a:t>Both are least-privilege and SSO-backed. Model A is preferred because no human ever holds AWS deploy keys.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274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642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1" i="0">
                <a:solidFill>
                  <a:srgbClr val="CFDAE2"/>
                </a:solidFill>
                <a:latin typeface="Calibri"/>
              </a:rPr>
              <a:t>MODEL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106424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GitOps / CI-CD — deploying = merging to main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2240280" cy="914400"/>
          </a:xfrm>
          <a:prstGeom prst="roundRect">
            <a:avLst/>
          </a:prstGeom>
          <a:solidFill>
            <a:srgbClr val="274E64"/>
          </a:solidFill>
          <a:ln w="15875">
            <a:solidFill>
              <a:srgbClr val="274E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2240280" cy="914400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Merge to main</a:t>
            </a:r>
          </a:p>
          <a:p>
            <a:pPr algn="ctr"/>
            <a:r>
              <a:rPr sz="1000">
                <a:solidFill>
                  <a:srgbClr val="5B6470"/>
                </a:solidFill>
                <a:latin typeface="Calibri"/>
              </a:rPr>
              <a:t>I approve the PR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43200" y="2167128"/>
            <a:ext cx="411480" cy="237744"/>
          </a:xfrm>
          <a:prstGeom prst="rightArrow">
            <a:avLst/>
          </a:prstGeom>
          <a:solidFill>
            <a:srgbClr val="E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063240" y="1828800"/>
            <a:ext cx="224028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74E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63240" y="1828800"/>
            <a:ext cx="2240280" cy="914400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ctr"/>
            <a:r>
              <a:rPr sz="1250" b="1">
                <a:solidFill>
                  <a:srgbClr val="274E64"/>
                </a:solidFill>
                <a:latin typeface="Calibri"/>
              </a:rPr>
              <a:t>GitHub Actions</a:t>
            </a:r>
          </a:p>
          <a:p>
            <a:pPr algn="ctr"/>
            <a:r>
              <a:rPr sz="1000">
                <a:solidFill>
                  <a:srgbClr val="5B6470"/>
                </a:solidFill>
                <a:latin typeface="Calibri"/>
              </a:rPr>
              <a:t>assumes OIDC role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303520" y="2167128"/>
            <a:ext cx="411480" cy="237744"/>
          </a:xfrm>
          <a:prstGeom prst="rightArrow">
            <a:avLst/>
          </a:prstGeom>
          <a:solidFill>
            <a:srgbClr val="E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623560" y="1828800"/>
            <a:ext cx="224028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74E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23560" y="1828800"/>
            <a:ext cx="2240280" cy="914400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ctr"/>
            <a:r>
              <a:rPr sz="1250" b="1">
                <a:solidFill>
                  <a:srgbClr val="274E64"/>
                </a:solidFill>
                <a:latin typeface="Calibri"/>
              </a:rPr>
              <a:t>Build → ECR</a:t>
            </a:r>
          </a:p>
          <a:p>
            <a:pPr algn="ctr"/>
            <a:r>
              <a:rPr sz="1000">
                <a:solidFill>
                  <a:srgbClr val="5B6470"/>
                </a:solidFill>
                <a:latin typeface="Calibri"/>
              </a:rPr>
              <a:t>push image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863840" y="2167128"/>
            <a:ext cx="411480" cy="237744"/>
          </a:xfrm>
          <a:prstGeom prst="rightArrow">
            <a:avLst/>
          </a:prstGeom>
          <a:solidFill>
            <a:srgbClr val="E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183880" y="1828800"/>
            <a:ext cx="224028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74E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83880" y="1828800"/>
            <a:ext cx="2240280" cy="914400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ctr"/>
            <a:r>
              <a:rPr sz="1250" b="1">
                <a:solidFill>
                  <a:srgbClr val="274E64"/>
                </a:solidFill>
                <a:latin typeface="Calibri"/>
              </a:rPr>
              <a:t>ECS update</a:t>
            </a:r>
          </a:p>
          <a:p>
            <a:pPr algn="ctr"/>
            <a:r>
              <a:rPr sz="1000">
                <a:solidFill>
                  <a:srgbClr val="5B6470"/>
                </a:solidFill>
                <a:latin typeface="Calibri"/>
              </a:rPr>
              <a:t>rolling deploy + health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06324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ED1B2F"/>
                </a:solidFill>
                <a:latin typeface="Calibri"/>
              </a:rPr>
              <a:t>►  </a:t>
            </a:r>
            <a:r>
              <a:rPr sz="1550" b="0">
                <a:solidFill>
                  <a:srgbClr val="1E7E45"/>
                </a:solidFill>
                <a:latin typeface="Calibri"/>
              </a:rPr>
              <a:t>GitHub OIDC = GitHub proves its identity to AWS and is handed a short-lived role — no AWS secret stored anywhere.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ED1B2F"/>
                </a:solidFill>
                <a:latin typeface="Calibri"/>
              </a:rPr>
              <a:t>►  </a:t>
            </a:r>
            <a:r>
              <a:rPr sz="1550" b="1">
                <a:solidFill>
                  <a:srgbClr val="1A1D21"/>
                </a:solidFill>
                <a:latin typeface="Calibri"/>
              </a:rPr>
              <a:t>The role can do only two things: </a:t>
            </a:r>
            <a:r>
              <a:rPr sz="1550">
                <a:solidFill>
                  <a:srgbClr val="1A1D21"/>
                </a:solidFill>
                <a:latin typeface="Calibri"/>
              </a:rPr>
              <a:t>push to the app’s ECR repo, and update the app’s ECS service.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ED1B2F"/>
                </a:solidFill>
                <a:latin typeface="Calibri"/>
              </a:rPr>
              <a:t>►  </a:t>
            </a:r>
            <a:r>
              <a:rPr sz="1550" b="0">
                <a:solidFill>
                  <a:srgbClr val="1A1D21"/>
                </a:solidFill>
                <a:latin typeface="Calibri"/>
              </a:rPr>
              <a:t>Every deploy is a git commit → perfect audit trail; rollback = revert the commit or redeploy the previous image.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ED1B2F"/>
                </a:solidFill>
                <a:latin typeface="Calibri"/>
              </a:rPr>
              <a:t>►  </a:t>
            </a:r>
            <a:r>
              <a:rPr sz="1550" b="0">
                <a:solidFill>
                  <a:srgbClr val="1A1D21"/>
                </a:solidFill>
                <a:latin typeface="Calibri"/>
              </a:rPr>
              <a:t>My human access can stay read-only (watch logs + rollout) — I never need write permissions to AWS at all.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274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642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1" i="0">
                <a:solidFill>
                  <a:srgbClr val="CFDAE2"/>
                </a:solidFill>
                <a:latin typeface="Calibri"/>
              </a:rPr>
              <a:t>MODEL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106424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Direct scoped access — the exact IAM policy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11064240" cy="4160520"/>
          </a:xfrm>
          <a:prstGeom prst="roundRect">
            <a:avLst/>
          </a:prstGeom>
          <a:solidFill>
            <a:srgbClr val="1A1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07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D6E6EF"/>
                </a:solidFill>
                <a:latin typeface="Consolas"/>
              </a:rPr>
              <a:t>{
  "Version": "2012-10-17",
  "Statement": [
    { "Sid": "PushImage", "Effect": "Allow",
      "Action": ["ecr:GetAuthorizationToken","ecr:BatchCheckLayerAvailability",
                 "ecr:InitiateLayerUpload","ecr:UploadLayerPart",
                 "ecr:CompleteLayerUpload","ecr:PutImage","ecr:BatchGetImage"],
      "Resource": "arn:aws:ecr:eu-central-1:&lt;acct&gt;:repository/apso-marketing-hub" },
    { "Sid": "DeployService", "Effect": "Allow",
      "Action": ["ecs:UpdateService","ecs:DescribeServices","ecs:DescribeTasks",
                 "ecs:RegisterTaskDefinition","ecs:ListTasks"], "Resource": "*" },
    { "Sid": "PassExecRole", "Effect": "Allow", "Action": "iam:PassRole",
      "Resource": "arn:aws:iam::&lt;acct&gt;:role/apso-mh-task-exec-role" },
    { "Sid": "Logs", "Effect": "Allow",
      "Action": ["logs:GetLogEvents","logs:FilterLogEvents","logs:DescribeLogStreams"],
      "Resource": "*" }
  ]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6263640"/>
            <a:ext cx="11064240" cy="45720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263640"/>
            <a:ext cx="10789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ED1B2F"/>
                </a:solidFill>
              </a:rPr>
              <a:t>●  </a:t>
            </a:r>
            <a:r>
              <a:rPr sz="1150" i="1">
                <a:solidFill>
                  <a:srgbClr val="274E64"/>
                </a:solidFill>
                <a:latin typeface="Calibri"/>
              </a:rPr>
              <a:t>Scoped to one ECR repo + one task-exec role. ARNs get tightened by True Soft. SSO + MFA enforced on assuming the role.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274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642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1" i="0">
                <a:solidFill>
                  <a:srgbClr val="CFDAE2"/>
                </a:solidFill>
                <a:latin typeface="Calibri"/>
              </a:rPr>
              <a:t>LINE BY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106424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What each permission allows — and why it’s safe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Statement</a:t>
                      </a:r>
                    </a:p>
                  </a:txBody>
                  <a:tcPr marL="76200" marR="76200" marT="38100" marB="38100" anchor="ctr">
                    <a:solidFill>
                      <a:srgbClr val="274E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Allows</a:t>
                      </a:r>
                    </a:p>
                  </a:txBody>
                  <a:tcPr marL="76200" marR="76200" marT="38100" marB="38100" anchor="ctr">
                    <a:solidFill>
                      <a:srgbClr val="274E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Why it’s the minimum</a:t>
                      </a:r>
                    </a:p>
                  </a:txBody>
                  <a:tcPr marL="76200" marR="76200" marT="38100" marB="38100" anchor="ctr">
                    <a:solidFill>
                      <a:srgbClr val="274E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74E64"/>
                          </a:solidFill>
                          <a:latin typeface="Calibri"/>
                        </a:rPr>
                        <a:t>PushImage (ECR)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D21"/>
                          </a:solidFill>
                          <a:latin typeface="Calibri"/>
                        </a:rPr>
                        <a:t>Upload a new container image to the app’s repo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D21"/>
                          </a:solidFill>
                          <a:latin typeface="Calibri"/>
                        </a:rPr>
                        <a:t>Tied to one repo ARN — can’t touch other images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74E64"/>
                          </a:solidFill>
                          <a:latin typeface="Calibri"/>
                        </a:rPr>
                        <a:t>DeployService (ECS)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D21"/>
                          </a:solidFill>
                          <a:latin typeface="Calibri"/>
                        </a:rPr>
                        <a:t>Tell the service to roll to the new image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D21"/>
                          </a:solidFill>
                          <a:latin typeface="Calibri"/>
                        </a:rPr>
                        <a:t>No create/delete cluster, no other services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74E64"/>
                          </a:solidFill>
                          <a:latin typeface="Calibri"/>
                        </a:rPr>
                        <a:t>PassExecRole (IAM)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D21"/>
                          </a:solidFill>
                          <a:latin typeface="Calibri"/>
                        </a:rPr>
                        <a:t>Let ECS use the task role at launch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D21"/>
                          </a:solidFill>
                          <a:latin typeface="Calibri"/>
                        </a:rPr>
                        <a:t>Single named role only — not iam:* 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74E64"/>
                          </a:solidFill>
                          <a:latin typeface="Calibri"/>
                        </a:rPr>
                        <a:t>Logs (CloudWatch)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D21"/>
                          </a:solidFill>
                          <a:latin typeface="Calibri"/>
                        </a:rPr>
                        <a:t>Read deploy + app logs to verify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D21"/>
                          </a:solidFill>
                          <a:latin typeface="Calibri"/>
                        </a:rPr>
                        <a:t>Read-only; no write, no other log groups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6263640"/>
            <a:ext cx="11064240" cy="45720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263640"/>
            <a:ext cx="10789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ED1B2F"/>
                </a:solidFill>
              </a:rPr>
              <a:t>●  </a:t>
            </a:r>
            <a:r>
              <a:rPr sz="1150" i="1">
                <a:solidFill>
                  <a:srgbClr val="274E64"/>
                </a:solidFill>
                <a:latin typeface="Calibri"/>
              </a:rPr>
              <a:t>No RDS, no Secrets values, no networking, no IAM editing, no access to any other application. That is the whole point.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274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642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1" i="0">
                <a:solidFill>
                  <a:srgbClr val="CFDAE2"/>
                </a:solidFill>
                <a:latin typeface="Calibri"/>
              </a:rPr>
              <a:t>BEFORE I CAN DEPLOY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106424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What I must KNOW (write these down on the call)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ED1B2F"/>
                </a:solidFill>
                <a:latin typeface="Calibri"/>
              </a:rPr>
              <a:t>►  </a:t>
            </a:r>
            <a:r>
              <a:rPr sz="1600" b="0">
                <a:solidFill>
                  <a:srgbClr val="1A1D21"/>
                </a:solidFill>
                <a:latin typeface="Calibri"/>
              </a:rPr>
              <a:t>AWS account ID + region (eu-central-1).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ED1B2F"/>
                </a:solidFill>
                <a:latin typeface="Calibri"/>
              </a:rPr>
              <a:t>►  </a:t>
            </a:r>
            <a:r>
              <a:rPr sz="1600" b="0">
                <a:solidFill>
                  <a:srgbClr val="1A1D21"/>
                </a:solidFill>
                <a:latin typeface="Calibri"/>
              </a:rPr>
              <a:t>ECR repository name / URI for the app.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ED1B2F"/>
                </a:solidFill>
                <a:latin typeface="Calibri"/>
              </a:rPr>
              <a:t>►  </a:t>
            </a:r>
            <a:r>
              <a:rPr sz="1600" b="0">
                <a:solidFill>
                  <a:srgbClr val="1A1D21"/>
                </a:solidFill>
                <a:latin typeface="Calibri"/>
              </a:rPr>
              <a:t>ECS cluster name + service name.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ED1B2F"/>
                </a:solidFill>
                <a:latin typeface="Calibri"/>
              </a:rPr>
              <a:t>►  </a:t>
            </a:r>
            <a:r>
              <a:rPr sz="1600" b="0">
                <a:solidFill>
                  <a:srgbClr val="1A1D21"/>
                </a:solidFill>
                <a:latin typeface="Calibri"/>
              </a:rPr>
              <a:t>Task execution role ARN (for iam:PassRole).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ED1B2F"/>
                </a:solidFill>
                <a:latin typeface="Calibri"/>
              </a:rPr>
              <a:t>►  </a:t>
            </a:r>
            <a:r>
              <a:rPr sz="1600" b="0">
                <a:solidFill>
                  <a:srgbClr val="1A1D21"/>
                </a:solidFill>
                <a:latin typeface="Calibri"/>
              </a:rPr>
              <a:t>How secrets are set / rotated (I’ll need to manage the 4 API keys + DB URL).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ED1B2F"/>
                </a:solidFill>
                <a:latin typeface="Calibri"/>
              </a:rPr>
              <a:t>►  </a:t>
            </a:r>
            <a:r>
              <a:rPr sz="1600" b="0">
                <a:solidFill>
                  <a:srgbClr val="1A1D21"/>
                </a:solidFill>
                <a:latin typeface="Calibri"/>
              </a:rPr>
              <a:t>Whether assuming the role requires MFA / Entra ID SSO (it will).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ED1B2F"/>
                </a:solidFill>
                <a:latin typeface="Calibri"/>
              </a:rPr>
              <a:t>►  </a:t>
            </a:r>
            <a:r>
              <a:rPr sz="1600" b="1">
                <a:solidFill>
                  <a:srgbClr val="1A1D21"/>
                </a:solidFill>
                <a:latin typeface="Calibri"/>
              </a:rPr>
              <a:t>The deploy command or pipeline trigger (Model A: </a:t>
            </a:r>
            <a:r>
              <a:rPr sz="1600">
                <a:solidFill>
                  <a:srgbClr val="1A1D21"/>
                </a:solidFill>
                <a:latin typeface="Calibri"/>
              </a:rPr>
              <a:t>merge to main; Model B: the aws ecs update-service line).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274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642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1" i="0">
                <a:solidFill>
                  <a:srgbClr val="CFDAE2"/>
                </a:solidFill>
                <a:latin typeface="Calibri"/>
              </a:rPr>
              <a:t>GUARDRAILS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106424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Why this is safe to grant 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ED1B2F"/>
                </a:solidFill>
                <a:latin typeface="Calibri"/>
              </a:rPr>
              <a:t>►  </a:t>
            </a:r>
            <a:r>
              <a:rPr sz="1550" b="1">
                <a:solidFill>
                  <a:srgbClr val="1E7E45"/>
                </a:solidFill>
                <a:latin typeface="Calibri"/>
              </a:rPr>
              <a:t>SSO + MFA: </a:t>
            </a:r>
            <a:r>
              <a:rPr sz="1550">
                <a:solidFill>
                  <a:srgbClr val="1E7E45"/>
                </a:solidFill>
                <a:latin typeface="Calibri"/>
              </a:rPr>
              <a:t>access is via Entra ID with Conditional Access — no standalone AWS password, no static keys.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ED1B2F"/>
                </a:solidFill>
                <a:latin typeface="Calibri"/>
              </a:rPr>
              <a:t>►  </a:t>
            </a:r>
            <a:r>
              <a:rPr sz="1550" b="1">
                <a:solidFill>
                  <a:srgbClr val="1A1D21"/>
                </a:solidFill>
                <a:latin typeface="Calibri"/>
              </a:rPr>
              <a:t>Least privilege: </a:t>
            </a:r>
            <a:r>
              <a:rPr sz="1550">
                <a:solidFill>
                  <a:srgbClr val="1A1D21"/>
                </a:solidFill>
                <a:latin typeface="Calibri"/>
              </a:rPr>
              <a:t>the role can deploy this one app and nothing else — no data, no infra, no other workloads.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ED1B2F"/>
                </a:solidFill>
                <a:latin typeface="Calibri"/>
              </a:rPr>
              <a:t>►  </a:t>
            </a:r>
            <a:r>
              <a:rPr sz="1550" b="1">
                <a:solidFill>
                  <a:srgbClr val="1A1D21"/>
                </a:solidFill>
                <a:latin typeface="Calibri"/>
              </a:rPr>
              <a:t>Auditability: </a:t>
            </a:r>
            <a:r>
              <a:rPr sz="1550">
                <a:solidFill>
                  <a:srgbClr val="1A1D21"/>
                </a:solidFill>
                <a:latin typeface="Calibri"/>
              </a:rPr>
              <a:t>every deploy is a git commit and/or a CloudTrail event — fully traceable to me.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ED1B2F"/>
                </a:solidFill>
                <a:latin typeface="Calibri"/>
              </a:rPr>
              <a:t>►  </a:t>
            </a:r>
            <a:r>
              <a:rPr sz="1550" b="1">
                <a:solidFill>
                  <a:srgbClr val="1A1D21"/>
                </a:solidFill>
                <a:latin typeface="Calibri"/>
              </a:rPr>
              <a:t>Reversibility: </a:t>
            </a:r>
            <a:r>
              <a:rPr sz="1550">
                <a:solidFill>
                  <a:srgbClr val="1A1D21"/>
                </a:solidFill>
                <a:latin typeface="Calibri"/>
              </a:rPr>
              <a:t>rolling deploys auto-rollback on a failed health check; previous image is one command away.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ED1B2F"/>
                </a:solidFill>
                <a:latin typeface="Calibri"/>
              </a:rPr>
              <a:t>►  </a:t>
            </a:r>
            <a:r>
              <a:rPr sz="1550" b="1">
                <a:solidFill>
                  <a:srgbClr val="1A1D21"/>
                </a:solidFill>
                <a:latin typeface="Calibri"/>
              </a:rPr>
              <a:t>No secret exposure: </a:t>
            </a:r>
            <a:r>
              <a:rPr sz="1550">
                <a:solidFill>
                  <a:srgbClr val="1A1D21"/>
                </a:solidFill>
                <a:latin typeface="Calibri"/>
              </a:rPr>
              <a:t>API keys live in Secrets Manager; I deploy code, I never see prod secret values in plaintext.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ED1B2F"/>
                </a:solidFill>
                <a:latin typeface="Calibri"/>
              </a:rPr>
              <a:t>►  </a:t>
            </a:r>
            <a:r>
              <a:rPr sz="1550" b="1">
                <a:solidFill>
                  <a:srgbClr val="1A1D21"/>
                </a:solidFill>
                <a:latin typeface="Calibri"/>
              </a:rPr>
              <a:t>Blast radius: </a:t>
            </a:r>
            <a:r>
              <a:rPr sz="1550">
                <a:solidFill>
                  <a:srgbClr val="1A1D21"/>
                </a:solidFill>
                <a:latin typeface="Calibri"/>
              </a:rPr>
              <a:t>worst case, a bad deploy briefly degrades one internal, no-PII app — contained and recoverable.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274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642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1" i="0">
                <a:solidFill>
                  <a:srgbClr val="CFDAE2"/>
                </a:solidFill>
                <a:latin typeface="Calibri"/>
              </a:rPr>
              <a:t>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106424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Who signs off, and the ask for the room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50" b="1">
                <a:solidFill>
                  <a:srgbClr val="ED1B2F"/>
                </a:solidFill>
                <a:latin typeface="Calibri"/>
              </a:rPr>
              <a:t>►  </a:t>
            </a:r>
            <a:r>
              <a:rPr sz="1650" b="1">
                <a:solidFill>
                  <a:srgbClr val="1A1D21"/>
                </a:solidFill>
                <a:latin typeface="Calibri"/>
              </a:rPr>
              <a:t>True Soft: </a:t>
            </a:r>
            <a:r>
              <a:rPr sz="1650">
                <a:solidFill>
                  <a:srgbClr val="1A1D21"/>
                </a:solidFill>
                <a:latin typeface="Calibri"/>
              </a:rPr>
              <a:t>provisions the ECR repo, ECS service, the GitHub-OIDC role and/or my scoped human role.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50" b="1">
                <a:solidFill>
                  <a:srgbClr val="ED1B2F"/>
                </a:solidFill>
                <a:latin typeface="Calibri"/>
              </a:rPr>
              <a:t>►  </a:t>
            </a:r>
            <a:r>
              <a:rPr sz="1650" b="1">
                <a:solidFill>
                  <a:srgbClr val="1A1D21"/>
                </a:solidFill>
                <a:latin typeface="Calibri"/>
              </a:rPr>
              <a:t>Group IT: </a:t>
            </a:r>
            <a:r>
              <a:rPr sz="1650">
                <a:solidFill>
                  <a:srgbClr val="1A1D21"/>
                </a:solidFill>
                <a:latin typeface="Calibri"/>
              </a:rPr>
              <a:t>owns AWS account onboarding + the Entra ID app registration that backs SSO.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50" b="1">
                <a:solidFill>
                  <a:srgbClr val="ED1B2F"/>
                </a:solidFill>
                <a:latin typeface="Calibri"/>
              </a:rPr>
              <a:t>►  </a:t>
            </a:r>
            <a:r>
              <a:rPr sz="1650" b="1">
                <a:solidFill>
                  <a:srgbClr val="1A1D21"/>
                </a:solidFill>
                <a:latin typeface="Calibri"/>
              </a:rPr>
              <a:t>Group Security: </a:t>
            </a:r>
            <a:r>
              <a:rPr sz="1650">
                <a:solidFill>
                  <a:srgbClr val="1A1D21"/>
                </a:solidFill>
                <a:latin typeface="Calibri"/>
              </a:rPr>
              <a:t>signs off least-privilege scope as part of the Phase-2 gate.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50" b="1">
                <a:solidFill>
                  <a:srgbClr val="ED1B2F"/>
                </a:solidFill>
                <a:latin typeface="Calibri"/>
              </a:rPr>
              <a:t>►  </a:t>
            </a:r>
            <a:r>
              <a:rPr sz="1650" b="0">
                <a:solidFill>
                  <a:srgbClr val="1A1D21"/>
                </a:solidFill>
                <a:latin typeface="Calibri"/>
              </a:rPr>
              <a:t>My ask, phrased for the meeting: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114800"/>
            <a:ext cx="10515600" cy="1371600"/>
          </a:xfrm>
          <a:prstGeom prst="roundRect">
            <a:avLst/>
          </a:prstGeom>
          <a:solidFill>
            <a:srgbClr val="EEF2F5"/>
          </a:solidFill>
          <a:ln w="15875">
            <a:solidFill>
              <a:srgbClr val="274E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4297680"/>
            <a:ext cx="99669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i="1">
                <a:solidFill>
                  <a:srgbClr val="1A3A4C"/>
                </a:solidFill>
                <a:latin typeface="Calibri"/>
              </a:rPr>
              <a:t>“I’d like the CI-CD pipeline set up so I can deploy by merging to main, authenticated by a GitHub-OIDC role scoped to just this app’s ECR repo and ECS service. Who in Group IT owns granting that role, and what’s the approval path?”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274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642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1" i="0">
                <a:solidFill>
                  <a:srgbClr val="CFDAE2"/>
                </a:solidFill>
                <a:latin typeface="Calibri"/>
              </a:rPr>
              <a:t>A DAY IN THE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106424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Step-by-step: how a deploy actually goes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50" b="1">
                <a:solidFill>
                  <a:srgbClr val="ED1B2F"/>
                </a:solidFill>
                <a:latin typeface="Calibri"/>
              </a:rPr>
              <a:t>►  </a:t>
            </a:r>
            <a:r>
              <a:rPr sz="1550" b="0">
                <a:solidFill>
                  <a:srgbClr val="1A1D21"/>
                </a:solidFill>
                <a:latin typeface="Calibri"/>
              </a:rPr>
              <a:t>1. I make a change in the repo and open a pull request.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50" b="1">
                <a:solidFill>
                  <a:srgbClr val="ED1B2F"/>
                </a:solidFill>
                <a:latin typeface="Calibri"/>
              </a:rPr>
              <a:t>►  </a:t>
            </a:r>
            <a:r>
              <a:rPr sz="1550" b="0">
                <a:solidFill>
                  <a:srgbClr val="1A1D21"/>
                </a:solidFill>
                <a:latin typeface="Calibri"/>
              </a:rPr>
              <a:t>2. CI runs build + checks on the PR; I review and merge to main.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50" b="1">
                <a:solidFill>
                  <a:srgbClr val="ED1B2F"/>
                </a:solidFill>
                <a:latin typeface="Calibri"/>
              </a:rPr>
              <a:t>►  </a:t>
            </a:r>
            <a:r>
              <a:rPr sz="1550" b="0">
                <a:solidFill>
                  <a:srgbClr val="1A1D21"/>
                </a:solidFill>
                <a:latin typeface="Calibri"/>
              </a:rPr>
              <a:t>3. GitHub Actions assumes the OIDC role, builds the image, pushes it to ECR.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50" b="1">
                <a:solidFill>
                  <a:srgbClr val="ED1B2F"/>
                </a:solidFill>
                <a:latin typeface="Calibri"/>
              </a:rPr>
              <a:t>►  </a:t>
            </a:r>
            <a:r>
              <a:rPr sz="1550" b="0">
                <a:solidFill>
                  <a:srgbClr val="1A1D21"/>
                </a:solidFill>
                <a:latin typeface="Calibri"/>
              </a:rPr>
              <a:t>4. The pipeline calls ecs update-service — Fargate starts new tasks alongside the old ones.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50" b="1">
                <a:solidFill>
                  <a:srgbClr val="ED1B2F"/>
                </a:solidFill>
                <a:latin typeface="Calibri"/>
              </a:rPr>
              <a:t>►  </a:t>
            </a:r>
            <a:r>
              <a:rPr sz="1550" b="0">
                <a:solidFill>
                  <a:srgbClr val="1A1D21"/>
                </a:solidFill>
                <a:latin typeface="Calibri"/>
              </a:rPr>
              <a:t>5. New tasks must pass /api/health before the ALB sends them traffic.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50" b="1">
                <a:solidFill>
                  <a:srgbClr val="ED1B2F"/>
                </a:solidFill>
                <a:latin typeface="Calibri"/>
              </a:rPr>
              <a:t>►  </a:t>
            </a:r>
            <a:r>
              <a:rPr sz="1550" b="0">
                <a:solidFill>
                  <a:srgbClr val="1A1D21"/>
                </a:solidFill>
                <a:latin typeface="Calibri"/>
              </a:rPr>
              <a:t>6. Old tasks drain and stop — zero-downtime rolling deploy.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50" b="1">
                <a:solidFill>
                  <a:srgbClr val="ED1B2F"/>
                </a:solidFill>
                <a:latin typeface="Calibri"/>
              </a:rPr>
              <a:t>►  </a:t>
            </a:r>
            <a:r>
              <a:rPr sz="1550" b="0">
                <a:solidFill>
                  <a:srgbClr val="1A1D21"/>
                </a:solidFill>
                <a:latin typeface="Calibri"/>
              </a:rPr>
              <a:t>7. If health checks fail, ECS keeps the old tasks — the deploy auto-rolls-back, users never notice.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50" b="1">
                <a:solidFill>
                  <a:srgbClr val="ED1B2F"/>
                </a:solidFill>
                <a:latin typeface="Calibri"/>
              </a:rPr>
              <a:t>►  </a:t>
            </a:r>
            <a:r>
              <a:rPr sz="1550" b="0">
                <a:solidFill>
                  <a:srgbClr val="1A1D21"/>
                </a:solidFill>
                <a:latin typeface="Calibri"/>
              </a:rPr>
              <a:t>8. I watch the rollout + logs in CloudWatch; to undo a bad change I revert the commit.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1376</Words>
  <Application>Microsoft Office PowerPoint</Application>
  <PresentationFormat>Widescreen</PresentationFormat>
  <Paragraphs>101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Claudio Saraiva</cp:lastModifiedBy>
  <cp:revision>1</cp:revision>
  <dcterms:created xsi:type="dcterms:W3CDTF">2013-01-27T09:14:16Z</dcterms:created>
  <dcterms:modified xsi:type="dcterms:W3CDTF">2026-06-07T15:31:54Z</dcterms:modified>
  <cp:category/>
</cp:coreProperties>
</file>